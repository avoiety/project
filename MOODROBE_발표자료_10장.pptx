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70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272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2929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96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76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43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11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28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98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9B02ACE-7F78-4F43-A6BA-65D8450D57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24" t="40953" r="52599" b="36097"/>
          <a:stretch/>
        </p:blipFill>
        <p:spPr>
          <a:xfrm>
            <a:off x="10493829" y="363728"/>
            <a:ext cx="1231116" cy="19380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9" name="Shape 47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7294C"/>
          </a:solidFill>
          <a:ln w="12700">
            <a:solidFill>
              <a:srgbClr val="17294C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17221" y="969264"/>
            <a:ext cx="1527048" cy="347472"/>
          </a:xfrm>
          <a:prstGeom prst="rect">
            <a:avLst/>
          </a:prstGeom>
          <a:solidFill>
            <a:srgbClr val="FFE77A"/>
          </a:solidFill>
          <a:ln w="13970">
            <a:solidFill>
              <a:srgbClr val="31558B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22376" y="1060704"/>
            <a:ext cx="135331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2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WARDROBE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658368" y="2441448"/>
            <a:ext cx="585216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옷장으로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완성하는 오늘의 코디</a:t>
            </a:r>
            <a:endParaRPr lang="en-US" sz="2800" dirty="0"/>
          </a:p>
        </p:txBody>
      </p:sp>
      <p:sp>
        <p:nvSpPr>
          <p:cNvPr id="72" name="Shape 69"/>
          <p:cNvSpPr/>
          <p:nvPr/>
        </p:nvSpPr>
        <p:spPr>
          <a:xfrm>
            <a:off x="603505" y="3520439"/>
            <a:ext cx="5230368" cy="502919"/>
          </a:xfrm>
          <a:prstGeom prst="rect">
            <a:avLst/>
          </a:prstGeom>
          <a:solidFill>
            <a:srgbClr val="A9EDCE"/>
          </a:solidFill>
          <a:ln w="15240">
            <a:solidFill>
              <a:srgbClr val="31558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프로그래밍 응용 </a:t>
            </a:r>
            <a:r>
              <a:rPr lang="en-US" altLang="ko-KR" sz="1600" b="1" dirty="0"/>
              <a:t>2</a:t>
            </a:r>
            <a:r>
              <a:rPr lang="ko-KR" altLang="en-US" sz="1600" b="1" dirty="0"/>
              <a:t>반 </a:t>
            </a:r>
            <a:r>
              <a:rPr lang="ko-KR" altLang="en-US" sz="1600" b="1" dirty="0" err="1"/>
              <a:t>강은효</a:t>
            </a:r>
            <a:endParaRPr lang="ko-KR" altLang="en-US" sz="1600" b="1" dirty="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6E0F70D6-E273-48F9-904E-169A6CFA8DE5}"/>
              </a:ext>
            </a:extLst>
          </p:cNvPr>
          <p:cNvGrpSpPr/>
          <p:nvPr/>
        </p:nvGrpSpPr>
        <p:grpSpPr>
          <a:xfrm>
            <a:off x="7287768" y="621792"/>
            <a:ext cx="4078224" cy="5376672"/>
            <a:chOff x="7287768" y="621792"/>
            <a:chExt cx="4078224" cy="5376672"/>
          </a:xfrm>
        </p:grpSpPr>
        <p:sp>
          <p:nvSpPr>
            <p:cNvPr id="65" name="Shape 63"/>
            <p:cNvSpPr/>
            <p:nvPr/>
          </p:nvSpPr>
          <p:spPr>
            <a:xfrm>
              <a:off x="7434072" y="768096"/>
              <a:ext cx="3931920" cy="5230368"/>
            </a:xfrm>
            <a:prstGeom prst="rect">
              <a:avLst/>
            </a:prstGeom>
            <a:solidFill>
              <a:srgbClr val="31558B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>
              <a:off x="7287768" y="621792"/>
              <a:ext cx="3931920" cy="5230368"/>
            </a:xfrm>
            <a:prstGeom prst="rect">
              <a:avLst/>
            </a:prstGeom>
            <a:solidFill>
              <a:srgbClr val="FFFEF7"/>
            </a:solidFill>
            <a:ln w="25400">
              <a:solidFill>
                <a:srgbClr val="31558B"/>
              </a:solidFill>
              <a:prstDash val="solid"/>
            </a:ln>
          </p:spPr>
        </p:sp>
      </p:grpSp>
      <p:pic>
        <p:nvPicPr>
          <p:cNvPr id="92" name="그림 91">
            <a:extLst>
              <a:ext uri="{FF2B5EF4-FFF2-40B4-BE49-F238E27FC236}">
                <a16:creationId xmlns:a16="http://schemas.microsoft.com/office/drawing/2014/main" id="{ADE37814-76FF-446B-9A1A-68DFA0B7DB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24" t="40953" r="52599" b="36097"/>
          <a:stretch/>
        </p:blipFill>
        <p:spPr>
          <a:xfrm>
            <a:off x="587959" y="1481328"/>
            <a:ext cx="5227625" cy="8229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" y="320040"/>
            <a:ext cx="704088" cy="310896"/>
          </a:xfrm>
          <a:prstGeom prst="rect">
            <a:avLst/>
          </a:prstGeom>
          <a:solidFill>
            <a:srgbClr val="FFE77A"/>
          </a:solidFill>
          <a:ln w="13970">
            <a:solidFill>
              <a:srgbClr val="3155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388620"/>
            <a:ext cx="5760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298448" y="329184"/>
            <a:ext cx="4754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38912" y="841248"/>
            <a:ext cx="111099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반복되는 코디 결정의 피로</a:t>
            </a:r>
            <a:endParaRPr lang="en-US" sz="3600" dirty="0"/>
          </a:p>
        </p:txBody>
      </p:sp>
      <p:sp>
        <p:nvSpPr>
          <p:cNvPr id="68" name="Text 66"/>
          <p:cNvSpPr/>
          <p:nvPr/>
        </p:nvSpPr>
        <p:spPr>
          <a:xfrm>
            <a:off x="457200" y="1499616"/>
            <a:ext cx="10789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입을 옷이  없어</a:t>
            </a:r>
            <a:r>
              <a:rPr lang="en-US" altLang="ko-KR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!”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649224" y="2395728"/>
            <a:ext cx="3246120" cy="1938528"/>
          </a:xfrm>
          <a:prstGeom prst="rect">
            <a:avLst/>
          </a:prstGeom>
          <a:solidFill>
            <a:srgbClr val="31558B"/>
          </a:solidFill>
          <a:ln w="12700">
            <a:solidFill>
              <a:srgbClr val="31558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216" y="2331720"/>
            <a:ext cx="3246120" cy="1938528"/>
          </a:xfrm>
          <a:prstGeom prst="rect">
            <a:avLst/>
          </a:prstGeom>
          <a:solidFill>
            <a:srgbClr val="FFFEF7"/>
          </a:solidFill>
          <a:ln w="15240">
            <a:solidFill>
              <a:srgbClr val="31558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5216" y="2331720"/>
            <a:ext cx="3246120" cy="146304"/>
          </a:xfrm>
          <a:prstGeom prst="rect">
            <a:avLst/>
          </a:prstGeom>
          <a:solidFill>
            <a:srgbClr val="FFE77A"/>
          </a:solidFill>
          <a:ln w="12700">
            <a:solidFill>
              <a:srgbClr val="FFE77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6384" y="2642616"/>
            <a:ext cx="28437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786384" y="3118104"/>
            <a:ext cx="2843784" cy="996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기온과 강수 여부를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sz="16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</a:t>
            </a:r>
            <a:r>
              <a:rPr lang="ko-KR" altLang="en-US" sz="16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려</a:t>
            </a:r>
            <a:endParaRPr lang="en-US" sz="1600" b="1" dirty="0"/>
          </a:p>
        </p:txBody>
      </p:sp>
      <p:sp>
        <p:nvSpPr>
          <p:cNvPr id="74" name="Shape 72"/>
          <p:cNvSpPr/>
          <p:nvPr/>
        </p:nvSpPr>
        <p:spPr>
          <a:xfrm>
            <a:off x="4471416" y="2395728"/>
            <a:ext cx="3246120" cy="1938528"/>
          </a:xfrm>
          <a:prstGeom prst="rect">
            <a:avLst/>
          </a:prstGeom>
          <a:solidFill>
            <a:srgbClr val="31558B"/>
          </a:solidFill>
          <a:ln w="12700">
            <a:solidFill>
              <a:srgbClr val="31558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407408" y="2331720"/>
            <a:ext cx="3246120" cy="1938528"/>
          </a:xfrm>
          <a:prstGeom prst="rect">
            <a:avLst/>
          </a:prstGeom>
          <a:solidFill>
            <a:srgbClr val="FFFEF7"/>
          </a:solidFill>
          <a:ln w="15240">
            <a:solidFill>
              <a:srgbClr val="31558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07408" y="2331720"/>
            <a:ext cx="3246120" cy="146304"/>
          </a:xfrm>
          <a:prstGeom prst="rect">
            <a:avLst/>
          </a:prstGeom>
          <a:solidFill>
            <a:srgbClr val="FF9FBA"/>
          </a:solidFill>
          <a:ln w="12700">
            <a:solidFill>
              <a:srgbClr val="FF9FB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08576" y="2642616"/>
            <a:ext cx="28437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4608576" y="3118104"/>
            <a:ext cx="2843784" cy="996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출근·약속·활동 등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TPO에</a:t>
            </a:r>
            <a:r>
              <a:rPr lang="en-US" sz="16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맞</a:t>
            </a:r>
            <a:r>
              <a:rPr lang="ko-KR" altLang="en-US" sz="16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추기</a:t>
            </a:r>
            <a:endParaRPr lang="en-US" sz="1600" b="1" dirty="0"/>
          </a:p>
        </p:txBody>
      </p:sp>
      <p:sp>
        <p:nvSpPr>
          <p:cNvPr id="79" name="Shape 77"/>
          <p:cNvSpPr/>
          <p:nvPr/>
        </p:nvSpPr>
        <p:spPr>
          <a:xfrm>
            <a:off x="8293608" y="2395728"/>
            <a:ext cx="3246120" cy="1938528"/>
          </a:xfrm>
          <a:prstGeom prst="rect">
            <a:avLst/>
          </a:prstGeom>
          <a:solidFill>
            <a:srgbClr val="31558B"/>
          </a:solidFill>
          <a:ln w="12700">
            <a:solidFill>
              <a:srgbClr val="31558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29600" y="2331720"/>
            <a:ext cx="3246120" cy="1938528"/>
          </a:xfrm>
          <a:prstGeom prst="rect">
            <a:avLst/>
          </a:prstGeom>
          <a:solidFill>
            <a:srgbClr val="FFFEF7"/>
          </a:solidFill>
          <a:ln w="15240">
            <a:solidFill>
              <a:srgbClr val="31558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29600" y="2331720"/>
            <a:ext cx="3246120" cy="146304"/>
          </a:xfrm>
          <a:prstGeom prst="rect">
            <a:avLst/>
          </a:prstGeom>
          <a:solidFill>
            <a:srgbClr val="A9EDCE"/>
          </a:solidFill>
          <a:ln w="12700">
            <a:solidFill>
              <a:srgbClr val="A9EDC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30768" y="2642616"/>
            <a:ext cx="28437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8430768" y="3118104"/>
            <a:ext cx="2843784" cy="996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가지고 있는 옷끼리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어울리는지</a:t>
            </a:r>
            <a:r>
              <a:rPr lang="en-US" sz="16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600" b="1" dirty="0"/>
          </a:p>
        </p:txBody>
      </p:sp>
      <p:sp>
        <p:nvSpPr>
          <p:cNvPr id="84" name="Shape 82"/>
          <p:cNvSpPr/>
          <p:nvPr/>
        </p:nvSpPr>
        <p:spPr>
          <a:xfrm>
            <a:off x="585216" y="4873752"/>
            <a:ext cx="11000232" cy="841248"/>
          </a:xfrm>
          <a:prstGeom prst="rect">
            <a:avLst/>
          </a:prstGeom>
          <a:solidFill>
            <a:srgbClr val="17294C"/>
          </a:solidFill>
          <a:ln w="12700">
            <a:solidFill>
              <a:srgbClr val="17294C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300000"/>
              </a:lnSpc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외출 할 때마다 의상 선택에 많은 에너지 소비</a:t>
            </a:r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85" name="Text 83"/>
          <p:cNvSpPr/>
          <p:nvPr/>
        </p:nvSpPr>
        <p:spPr>
          <a:xfrm>
            <a:off x="896112" y="5148072"/>
            <a:ext cx="103327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86" name="Shape 8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1430">
            <a:solidFill>
              <a:srgbClr val="31558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" y="6528816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650" b="1" kern="0" spc="7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MOODROBE | PERSONAL WARDROBE SERVICE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11137392" y="6510528"/>
            <a:ext cx="566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" y="320040"/>
            <a:ext cx="704088" cy="310896"/>
          </a:xfrm>
          <a:prstGeom prst="rect">
            <a:avLst/>
          </a:prstGeom>
          <a:solidFill>
            <a:srgbClr val="FFE77A"/>
          </a:solidFill>
          <a:ln w="13970">
            <a:solidFill>
              <a:srgbClr val="3155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379476"/>
            <a:ext cx="5760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298448" y="329184"/>
            <a:ext cx="4754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38912" y="841248"/>
            <a:ext cx="111099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</a:t>
            </a:r>
            <a:r>
              <a:rPr lang="en-US" sz="3600" b="1" dirty="0" err="1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옷장</a:t>
            </a:r>
            <a:r>
              <a:rPr lang="ko-KR" altLang="en-US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가장 어울리는 옷 고르기</a:t>
            </a:r>
            <a:endParaRPr lang="en-US" sz="3600" dirty="0"/>
          </a:p>
        </p:txBody>
      </p:sp>
      <p:sp>
        <p:nvSpPr>
          <p:cNvPr id="68" name="Text 66"/>
          <p:cNvSpPr/>
          <p:nvPr/>
        </p:nvSpPr>
        <p:spPr>
          <a:xfrm>
            <a:off x="457200" y="1499616"/>
            <a:ext cx="10789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등록한</a:t>
            </a:r>
            <a:r>
              <a:rPr lang="en-US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옷을</a:t>
            </a:r>
            <a:r>
              <a:rPr lang="en-US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바탕으로 오늘의 </a:t>
            </a:r>
            <a:r>
              <a:rPr lang="en-US" sz="14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코디를</a:t>
            </a:r>
            <a:r>
              <a:rPr lang="en-US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400" dirty="0"/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E02FC0BB-A356-4FE4-B137-370B9665D0CE}"/>
              </a:ext>
            </a:extLst>
          </p:cNvPr>
          <p:cNvGrpSpPr/>
          <p:nvPr/>
        </p:nvGrpSpPr>
        <p:grpSpPr>
          <a:xfrm>
            <a:off x="704088" y="2464309"/>
            <a:ext cx="10497312" cy="2432304"/>
            <a:chOff x="731520" y="2075688"/>
            <a:chExt cx="10497312" cy="2432304"/>
          </a:xfrm>
        </p:grpSpPr>
        <p:sp>
          <p:nvSpPr>
            <p:cNvPr id="69" name="Shape 67"/>
            <p:cNvSpPr/>
            <p:nvPr/>
          </p:nvSpPr>
          <p:spPr>
            <a:xfrm>
              <a:off x="731520" y="2331720"/>
              <a:ext cx="2907792" cy="2176272"/>
            </a:xfrm>
            <a:prstGeom prst="rect">
              <a:avLst/>
            </a:prstGeom>
            <a:solidFill>
              <a:srgbClr val="FFFEF7"/>
            </a:solidFill>
            <a:ln w="15240">
              <a:solidFill>
                <a:srgbClr val="31558B"/>
              </a:solidFill>
              <a:prstDash val="solid"/>
            </a:ln>
          </p:spPr>
        </p:sp>
        <p:sp>
          <p:nvSpPr>
            <p:cNvPr id="70" name="Shape 68"/>
            <p:cNvSpPr/>
            <p:nvPr/>
          </p:nvSpPr>
          <p:spPr>
            <a:xfrm>
              <a:off x="932688" y="2075688"/>
              <a:ext cx="640080" cy="411480"/>
            </a:xfrm>
            <a:prstGeom prst="rect">
              <a:avLst/>
            </a:prstGeom>
            <a:solidFill>
              <a:srgbClr val="FF9FBA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71" name="Text 69"/>
            <p:cNvSpPr/>
            <p:nvPr/>
          </p:nvSpPr>
          <p:spPr>
            <a:xfrm>
              <a:off x="1014984" y="2194560"/>
              <a:ext cx="457200" cy="13716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01</a:t>
              </a:r>
              <a:endParaRPr lang="en-US" sz="800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960120" y="2883082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옷 등록</a:t>
              </a:r>
              <a:endParaRPr lang="en-US" sz="220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1051560" y="3401568"/>
              <a:ext cx="2286000" cy="5669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63E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사진, 종류, 색상,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263E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어울리는 상황 입력</a:t>
              </a:r>
              <a:endParaRPr lang="en-US" sz="12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3840480" y="3108960"/>
              <a:ext cx="347472" cy="29260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85000" lnSpcReduction="20000"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3155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&gt;</a:t>
              </a:r>
              <a:endParaRPr lang="en-US" sz="260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4526280" y="2331720"/>
              <a:ext cx="2907792" cy="2176272"/>
            </a:xfrm>
            <a:prstGeom prst="rect">
              <a:avLst/>
            </a:prstGeom>
            <a:solidFill>
              <a:srgbClr val="FFFEF7"/>
            </a:solidFill>
            <a:ln w="15240">
              <a:solidFill>
                <a:srgbClr val="31558B"/>
              </a:solidFill>
              <a:prstDash val="solid"/>
            </a:ln>
          </p:spPr>
        </p:sp>
        <p:sp>
          <p:nvSpPr>
            <p:cNvPr id="76" name="Shape 74"/>
            <p:cNvSpPr/>
            <p:nvPr/>
          </p:nvSpPr>
          <p:spPr>
            <a:xfrm>
              <a:off x="4727448" y="2075688"/>
              <a:ext cx="640080" cy="411480"/>
            </a:xfrm>
            <a:prstGeom prst="rect">
              <a:avLst/>
            </a:prstGeom>
            <a:solidFill>
              <a:srgbClr val="FF9FBA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77" name="Text 75"/>
            <p:cNvSpPr/>
            <p:nvPr/>
          </p:nvSpPr>
          <p:spPr>
            <a:xfrm>
              <a:off x="4809744" y="2194560"/>
              <a:ext cx="457200" cy="13716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02</a:t>
              </a:r>
              <a:endParaRPr lang="en-US" sz="8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4754880" y="2883082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조건 선택</a:t>
              </a:r>
              <a:endParaRPr lang="en-US" sz="2400" dirty="0"/>
            </a:p>
          </p:txBody>
        </p:sp>
        <p:sp>
          <p:nvSpPr>
            <p:cNvPr id="79" name="Text 77"/>
            <p:cNvSpPr/>
            <p:nvPr/>
          </p:nvSpPr>
          <p:spPr>
            <a:xfrm>
              <a:off x="4846320" y="3401568"/>
              <a:ext cx="2286000" cy="5669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63E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날씨와 오늘의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263E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상황을 선택</a:t>
              </a:r>
              <a:endParaRPr lang="en-US" sz="1200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7635240" y="3108960"/>
              <a:ext cx="347472" cy="29260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85000" lnSpcReduction="20000"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3155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&gt;</a:t>
              </a:r>
              <a:endParaRPr lang="en-US" sz="260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8321040" y="2331720"/>
              <a:ext cx="2907792" cy="2176272"/>
            </a:xfrm>
            <a:prstGeom prst="rect">
              <a:avLst/>
            </a:prstGeom>
            <a:solidFill>
              <a:srgbClr val="FFFEF7"/>
            </a:solidFill>
            <a:ln w="15240">
              <a:solidFill>
                <a:srgbClr val="31558B"/>
              </a:solidFill>
              <a:prstDash val="solid"/>
            </a:ln>
          </p:spPr>
        </p:sp>
        <p:sp>
          <p:nvSpPr>
            <p:cNvPr id="82" name="Shape 80"/>
            <p:cNvSpPr/>
            <p:nvPr/>
          </p:nvSpPr>
          <p:spPr>
            <a:xfrm>
              <a:off x="8522208" y="2075688"/>
              <a:ext cx="640080" cy="411480"/>
            </a:xfrm>
            <a:prstGeom prst="rect">
              <a:avLst/>
            </a:prstGeom>
            <a:solidFill>
              <a:srgbClr val="FF9FBA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83" name="Text 81"/>
            <p:cNvSpPr/>
            <p:nvPr/>
          </p:nvSpPr>
          <p:spPr>
            <a:xfrm>
              <a:off x="8604504" y="2194560"/>
              <a:ext cx="457200" cy="13716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03</a:t>
              </a:r>
              <a:endParaRPr lang="en-US" sz="800" dirty="0"/>
            </a:p>
          </p:txBody>
        </p:sp>
        <p:sp>
          <p:nvSpPr>
            <p:cNvPr id="84" name="Text 82"/>
            <p:cNvSpPr/>
            <p:nvPr/>
          </p:nvSpPr>
          <p:spPr>
            <a:xfrm>
              <a:off x="8549640" y="2883082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코디 추천</a:t>
              </a:r>
              <a:endParaRPr lang="en-US" sz="24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8641080" y="3401568"/>
              <a:ext cx="2286000" cy="5669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63E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조합 점수를 계산해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263E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가장 어울리는 룩 제안</a:t>
              </a:r>
              <a:endParaRPr lang="en-US" sz="1200" dirty="0"/>
            </a:p>
          </p:txBody>
        </p:sp>
      </p:grpSp>
      <p:sp>
        <p:nvSpPr>
          <p:cNvPr id="87" name="Shape 85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1430">
            <a:solidFill>
              <a:srgbClr val="31558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" y="6528816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650" b="1" kern="0" spc="7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MOODROBE | PERSONAL WARDROBE SERVICE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11137392" y="6510528"/>
            <a:ext cx="566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F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1359" y="370332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03406" y="-128016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" y="320040"/>
            <a:ext cx="704088" cy="310896"/>
          </a:xfrm>
          <a:prstGeom prst="rect">
            <a:avLst/>
          </a:prstGeom>
          <a:solidFill>
            <a:srgbClr val="FFE77A"/>
          </a:solidFill>
          <a:ln w="13970">
            <a:solidFill>
              <a:srgbClr val="3155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380568"/>
            <a:ext cx="5760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298448" y="329184"/>
            <a:ext cx="4754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&amp; VALUE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38912" y="841248"/>
            <a:ext cx="111099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대상</a:t>
            </a:r>
            <a:endParaRPr lang="en-US" sz="3600" dirty="0"/>
          </a:p>
        </p:txBody>
      </p:sp>
      <p:sp>
        <p:nvSpPr>
          <p:cNvPr id="68" name="Text 66"/>
          <p:cNvSpPr/>
          <p:nvPr/>
        </p:nvSpPr>
        <p:spPr>
          <a:xfrm>
            <a:off x="457200" y="1499616"/>
            <a:ext cx="10789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피로는 덜고 스타일은 챙기고 싶은 </a:t>
            </a:r>
            <a:r>
              <a:rPr lang="en-US" sz="1400" b="1" dirty="0" err="1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</a:t>
            </a:r>
            <a:r>
              <a:rPr lang="en-US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위한 옷장 메이트</a:t>
            </a:r>
            <a:endParaRPr lang="en-US" sz="1400" dirty="0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206B8697-ED24-4E51-BF60-C7FD83A09E88}"/>
              </a:ext>
            </a:extLst>
          </p:cNvPr>
          <p:cNvGrpSpPr/>
          <p:nvPr/>
        </p:nvGrpSpPr>
        <p:grpSpPr>
          <a:xfrm>
            <a:off x="594360" y="2176272"/>
            <a:ext cx="11045952" cy="3310128"/>
            <a:chOff x="594360" y="2176272"/>
            <a:chExt cx="11045952" cy="3310128"/>
          </a:xfrm>
        </p:grpSpPr>
        <p:sp>
          <p:nvSpPr>
            <p:cNvPr id="69" name="Shape 67"/>
            <p:cNvSpPr/>
            <p:nvPr/>
          </p:nvSpPr>
          <p:spPr>
            <a:xfrm>
              <a:off x="658368" y="2240280"/>
              <a:ext cx="3337560" cy="3246120"/>
            </a:xfrm>
            <a:prstGeom prst="rect">
              <a:avLst/>
            </a:prstGeom>
            <a:solidFill>
              <a:srgbClr val="31558B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70" name="Shape 68"/>
            <p:cNvSpPr/>
            <p:nvPr/>
          </p:nvSpPr>
          <p:spPr>
            <a:xfrm>
              <a:off x="594360" y="2176272"/>
              <a:ext cx="3337560" cy="3246120"/>
            </a:xfrm>
            <a:prstGeom prst="rect">
              <a:avLst/>
            </a:prstGeom>
            <a:solidFill>
              <a:srgbClr val="FFFEF7"/>
            </a:solidFill>
            <a:ln w="15240">
              <a:solidFill>
                <a:srgbClr val="31558B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594360" y="2176272"/>
              <a:ext cx="3337560" cy="146304"/>
            </a:xfrm>
            <a:prstGeom prst="rect">
              <a:avLst/>
            </a:prstGeom>
            <a:solidFill>
              <a:srgbClr val="FFE77A"/>
            </a:solidFill>
            <a:ln w="12700">
              <a:solidFill>
                <a:srgbClr val="FFE77A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795528" y="2487168"/>
              <a:ext cx="2935224" cy="3474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주요 사용자</a:t>
              </a:r>
              <a:endParaRPr lang="en-US" sz="200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795528" y="2962656"/>
              <a:ext cx="2935224" cy="23042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solidFill>
                    <a:srgbClr val="002060"/>
                  </a:solidFill>
                </a:rPr>
                <a:t>코디 고민이 있는 사람</a:t>
              </a:r>
              <a:endParaRPr lang="en-US" altLang="ko-KR" sz="1600" dirty="0">
                <a:solidFill>
                  <a:srgbClr val="002060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solidFill>
                    <a:srgbClr val="002060"/>
                  </a:solidFill>
                </a:rPr>
                <a:t>옷을 잘 활용하고 싶은 사람</a:t>
              </a:r>
              <a:endParaRPr lang="en-US" altLang="ko-KR" sz="1600" dirty="0">
                <a:solidFill>
                  <a:srgbClr val="002060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solidFill>
                    <a:srgbClr val="002060"/>
                  </a:solidFill>
                </a:rPr>
                <a:t>친근하고 편리한 패션 경험이 필요한 사람</a:t>
              </a: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74" name="Shape 72"/>
            <p:cNvSpPr/>
            <p:nvPr/>
          </p:nvSpPr>
          <p:spPr>
            <a:xfrm>
              <a:off x="4480560" y="2240280"/>
              <a:ext cx="3337560" cy="3246120"/>
            </a:xfrm>
            <a:prstGeom prst="rect">
              <a:avLst/>
            </a:prstGeom>
            <a:solidFill>
              <a:srgbClr val="31558B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75" name="Shape 73"/>
            <p:cNvSpPr/>
            <p:nvPr/>
          </p:nvSpPr>
          <p:spPr>
            <a:xfrm>
              <a:off x="4416552" y="2176272"/>
              <a:ext cx="3337560" cy="3246120"/>
            </a:xfrm>
            <a:prstGeom prst="rect">
              <a:avLst/>
            </a:prstGeom>
            <a:solidFill>
              <a:srgbClr val="FFFEF7"/>
            </a:solidFill>
            <a:ln w="15240">
              <a:solidFill>
                <a:srgbClr val="31558B"/>
              </a:solidFill>
              <a:prstDash val="solid"/>
            </a:ln>
          </p:spPr>
        </p:sp>
        <p:sp>
          <p:nvSpPr>
            <p:cNvPr id="76" name="Shape 74"/>
            <p:cNvSpPr/>
            <p:nvPr/>
          </p:nvSpPr>
          <p:spPr>
            <a:xfrm>
              <a:off x="4416552" y="2176272"/>
              <a:ext cx="3337560" cy="146304"/>
            </a:xfrm>
            <a:prstGeom prst="rect">
              <a:avLst/>
            </a:prstGeom>
            <a:solidFill>
              <a:srgbClr val="A9EDCE"/>
            </a:solidFill>
            <a:ln w="12700">
              <a:solidFill>
                <a:srgbClr val="A9EDCE"/>
              </a:solidFill>
              <a:prstDash val="solid"/>
            </a:ln>
          </p:spPr>
        </p:sp>
        <p:sp>
          <p:nvSpPr>
            <p:cNvPr id="77" name="Text 75"/>
            <p:cNvSpPr/>
            <p:nvPr/>
          </p:nvSpPr>
          <p:spPr>
            <a:xfrm>
              <a:off x="4617720" y="2487168"/>
              <a:ext cx="2935224" cy="3474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사용자 가치</a:t>
              </a:r>
              <a:endParaRPr lang="en-US" sz="20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4617720" y="2962656"/>
              <a:ext cx="2935224" cy="23042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1600" dirty="0" err="1">
                  <a:solidFill>
                    <a:srgbClr val="263E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나만의</a:t>
              </a:r>
              <a:r>
                <a:rPr lang="en-US" sz="1600" dirty="0">
                  <a:solidFill>
                    <a:srgbClr val="263E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옷 기준 추천</a:t>
              </a:r>
              <a:endParaRPr lang="en-US" sz="1600" dirty="0"/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1600" dirty="0" err="1">
                  <a:solidFill>
                    <a:srgbClr val="00206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날씨와</a:t>
              </a:r>
              <a:r>
                <a:rPr lang="en-US" sz="1600" dirty="0">
                  <a:solidFill>
                    <a:srgbClr val="00206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TPO를 한 번에 반영</a:t>
              </a:r>
              <a:endParaRPr lang="en-US" sz="1600" dirty="0">
                <a:solidFill>
                  <a:srgbClr val="002060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1600" dirty="0" err="1">
                  <a:solidFill>
                    <a:srgbClr val="263E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사진</a:t>
              </a:r>
              <a:r>
                <a:rPr lang="en-US" sz="1600" dirty="0">
                  <a:solidFill>
                    <a:srgbClr val="263E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중심의 직관적인 옷장 관리</a:t>
              </a:r>
              <a:endParaRPr lang="en-US" sz="1600" dirty="0"/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F42201AC-9B69-4715-89D8-F899BD082961}"/>
                </a:ext>
              </a:extLst>
            </p:cNvPr>
            <p:cNvGrpSpPr/>
            <p:nvPr/>
          </p:nvGrpSpPr>
          <p:grpSpPr>
            <a:xfrm>
              <a:off x="8238744" y="2176272"/>
              <a:ext cx="3401568" cy="3310128"/>
              <a:chOff x="8238744" y="2176272"/>
              <a:chExt cx="3401568" cy="3310128"/>
            </a:xfrm>
          </p:grpSpPr>
          <p:sp>
            <p:nvSpPr>
              <p:cNvPr id="79" name="Shape 77"/>
              <p:cNvSpPr/>
              <p:nvPr/>
            </p:nvSpPr>
            <p:spPr>
              <a:xfrm>
                <a:off x="8302752" y="2240280"/>
                <a:ext cx="3337560" cy="3246120"/>
              </a:xfrm>
              <a:prstGeom prst="rect">
                <a:avLst/>
              </a:prstGeom>
              <a:solidFill>
                <a:srgbClr val="31558B"/>
              </a:solidFill>
              <a:ln w="1270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80" name="Shape 78"/>
              <p:cNvSpPr/>
              <p:nvPr/>
            </p:nvSpPr>
            <p:spPr>
              <a:xfrm>
                <a:off x="8238744" y="2176272"/>
                <a:ext cx="3337560" cy="3246120"/>
              </a:xfrm>
              <a:prstGeom prst="rect">
                <a:avLst/>
              </a:prstGeom>
              <a:solidFill>
                <a:srgbClr val="FFFEF7"/>
              </a:solidFill>
              <a:ln w="1524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81" name="Shape 79"/>
              <p:cNvSpPr/>
              <p:nvPr/>
            </p:nvSpPr>
            <p:spPr>
              <a:xfrm>
                <a:off x="8238744" y="2176272"/>
                <a:ext cx="3337560" cy="146304"/>
              </a:xfrm>
              <a:prstGeom prst="rect">
                <a:avLst/>
              </a:prstGeom>
              <a:solidFill>
                <a:srgbClr val="FF9FBA"/>
              </a:solidFill>
              <a:ln w="12700">
                <a:solidFill>
                  <a:srgbClr val="FF9FBA"/>
                </a:solidFill>
                <a:prstDash val="solid"/>
              </a:ln>
            </p:spPr>
          </p:sp>
          <p:sp>
            <p:nvSpPr>
              <p:cNvPr id="82" name="Text 80"/>
              <p:cNvSpPr/>
              <p:nvPr/>
            </p:nvSpPr>
            <p:spPr>
              <a:xfrm>
                <a:off x="8439912" y="2487168"/>
                <a:ext cx="2935224" cy="347472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17294C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서비스 가치</a:t>
                </a:r>
                <a:endParaRPr lang="en-US" sz="2000" dirty="0"/>
              </a:p>
            </p:txBody>
          </p:sp>
          <p:sp>
            <p:nvSpPr>
              <p:cNvPr id="83" name="Text 81"/>
              <p:cNvSpPr/>
              <p:nvPr/>
            </p:nvSpPr>
            <p:spPr>
              <a:xfrm>
                <a:off x="8439912" y="2962656"/>
                <a:ext cx="2935224" cy="2304288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t"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1600" dirty="0" err="1">
                    <a:solidFill>
                      <a:srgbClr val="263E6B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개인화된</a:t>
                </a:r>
                <a:r>
                  <a:rPr lang="en-US" sz="1600" dirty="0">
                    <a:solidFill>
                      <a:srgbClr val="263E6B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코디 제안</a:t>
                </a:r>
                <a:endParaRPr lang="en-US" sz="16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1600" dirty="0" err="1">
                    <a:solidFill>
                      <a:srgbClr val="263E6B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의류</a:t>
                </a:r>
                <a:r>
                  <a:rPr lang="en-US" sz="1600" dirty="0">
                    <a:solidFill>
                      <a:srgbClr val="263E6B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재발견 및 활용도 향상</a:t>
                </a:r>
                <a:endParaRPr lang="en-US" sz="16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1600" dirty="0" err="1">
                    <a:solidFill>
                      <a:srgbClr val="263E6B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재미있는</a:t>
                </a:r>
                <a:r>
                  <a:rPr lang="en-US" sz="1600" dirty="0">
                    <a:solidFill>
                      <a:srgbClr val="263E6B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게임형 추천 경험</a:t>
                </a:r>
                <a:endParaRPr lang="en-US" sz="1600" dirty="0"/>
              </a:p>
            </p:txBody>
          </p:sp>
        </p:grpSp>
      </p:grpSp>
      <p:sp>
        <p:nvSpPr>
          <p:cNvPr id="84" name="Shape 82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1430">
            <a:solidFill>
              <a:srgbClr val="31558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" y="6528816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650" b="1" kern="0" spc="7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MOODROBE | PERSONAL WARDROBE SERVICE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11137392" y="6510528"/>
            <a:ext cx="566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9" y="9144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" y="320040"/>
            <a:ext cx="704088" cy="310896"/>
          </a:xfrm>
          <a:prstGeom prst="rect">
            <a:avLst/>
          </a:prstGeom>
          <a:solidFill>
            <a:srgbClr val="FFE77A"/>
          </a:solidFill>
          <a:ln w="13970">
            <a:solidFill>
              <a:srgbClr val="3155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379476"/>
            <a:ext cx="5760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</a:p>
        </p:txBody>
      </p:sp>
      <p:sp>
        <p:nvSpPr>
          <p:cNvPr id="65" name="Text 63"/>
          <p:cNvSpPr/>
          <p:nvPr/>
        </p:nvSpPr>
        <p:spPr>
          <a:xfrm>
            <a:off x="1298448" y="329184"/>
            <a:ext cx="4754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altLang="ko-KR" sz="900" b="1" kern="0" spc="15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DISCRETE MATHEMATICS</a:t>
            </a:r>
            <a:endParaRPr lang="en-US" altLang="ko-KR" sz="900" dirty="0"/>
          </a:p>
        </p:txBody>
      </p:sp>
      <p:sp>
        <p:nvSpPr>
          <p:cNvPr id="67" name="Text 65"/>
          <p:cNvSpPr/>
          <p:nvPr/>
        </p:nvSpPr>
        <p:spPr>
          <a:xfrm>
            <a:off x="438912" y="841248"/>
            <a:ext cx="111099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그래프와 집합</a:t>
            </a:r>
            <a:endParaRPr lang="en-US" altLang="ko-KR" sz="3600" dirty="0"/>
          </a:p>
        </p:txBody>
      </p:sp>
      <p:sp>
        <p:nvSpPr>
          <p:cNvPr id="68" name="Text 66"/>
          <p:cNvSpPr/>
          <p:nvPr/>
        </p:nvSpPr>
        <p:spPr>
          <a:xfrm>
            <a:off x="457200" y="1499616"/>
            <a:ext cx="10789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의상을 정점</a:t>
            </a:r>
            <a:r>
              <a:rPr lang="en-US" altLang="ko-KR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b="1" dirty="0">
                <a:solidFill>
                  <a:srgbClr val="26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의상의 관계를 가중치 간선으로 모델링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1430">
            <a:solidFill>
              <a:srgbClr val="31558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" y="6528816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650" b="1" kern="0" spc="7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MOODROBE | PERSONAL WARDROBE SERVICE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11137392" y="6510528"/>
            <a:ext cx="566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/>
              <a:t>05</a:t>
            </a:r>
          </a:p>
        </p:txBody>
      </p:sp>
      <p:pic>
        <p:nvPicPr>
          <p:cNvPr id="114" name="그림 113">
            <a:extLst>
              <a:ext uri="{FF2B5EF4-FFF2-40B4-BE49-F238E27FC236}">
                <a16:creationId xmlns:a16="http://schemas.microsoft.com/office/drawing/2014/main" id="{D2A3F80B-3921-4923-BF41-5549A5C79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13" y="1892808"/>
            <a:ext cx="10461067" cy="40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6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1359" y="370332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479" y="38404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-281813" y="5110626"/>
            <a:ext cx="20643296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4536" y="1129719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" y="320040"/>
            <a:ext cx="704088" cy="310896"/>
          </a:xfrm>
          <a:prstGeom prst="rect">
            <a:avLst/>
          </a:prstGeom>
          <a:solidFill>
            <a:srgbClr val="FFE77A"/>
          </a:solidFill>
          <a:ln w="13970">
            <a:solidFill>
              <a:srgbClr val="31558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Text 62"/>
          <p:cNvSpPr/>
          <p:nvPr/>
        </p:nvSpPr>
        <p:spPr>
          <a:xfrm>
            <a:off x="502920" y="397764"/>
            <a:ext cx="5760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</a:p>
        </p:txBody>
      </p:sp>
      <p:sp>
        <p:nvSpPr>
          <p:cNvPr id="65" name="Text 63"/>
          <p:cNvSpPr/>
          <p:nvPr/>
        </p:nvSpPr>
        <p:spPr>
          <a:xfrm>
            <a:off x="1298448" y="329184"/>
            <a:ext cx="4754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altLang="ko-KR" sz="900" b="1" kern="0" spc="15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DISCRETE MATHEMATICS</a:t>
            </a:r>
            <a:endParaRPr lang="en-US" altLang="ko-KR" sz="900" dirty="0"/>
          </a:p>
        </p:txBody>
      </p:sp>
      <p:sp>
        <p:nvSpPr>
          <p:cNvPr id="67" name="Text 65"/>
          <p:cNvSpPr/>
          <p:nvPr/>
        </p:nvSpPr>
        <p:spPr>
          <a:xfrm>
            <a:off x="438912" y="841248"/>
            <a:ext cx="111099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그래프와 집합</a:t>
            </a:r>
            <a:endParaRPr lang="en-US" altLang="ko-KR" sz="3600" dirty="0"/>
          </a:p>
        </p:txBody>
      </p:sp>
      <p:sp>
        <p:nvSpPr>
          <p:cNvPr id="84" name="Shape 82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1430">
            <a:solidFill>
              <a:srgbClr val="31558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" y="6528816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650" b="1" kern="0" spc="7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MOODROBE | PERSONAL WARDROBE SERVICE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11137392" y="6510528"/>
            <a:ext cx="566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700" dirty="0"/>
          </a:p>
        </p:txBody>
      </p:sp>
      <p:sp>
        <p:nvSpPr>
          <p:cNvPr id="87" name="Rectangle 2">
            <a:extLst>
              <a:ext uri="{FF2B5EF4-FFF2-40B4-BE49-F238E27FC236}">
                <a16:creationId xmlns:a16="http://schemas.microsoft.com/office/drawing/2014/main" id="{9A232AD2-8F0F-4BBC-B075-9FBF8AA46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1813" y="-10015"/>
            <a:ext cx="20643812" cy="765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358183512">
            <a:extLst>
              <a:ext uri="{FF2B5EF4-FFF2-40B4-BE49-F238E27FC236}">
                <a16:creationId xmlns:a16="http://schemas.microsoft.com/office/drawing/2014/main" id="{671D61CA-6E54-43B5-9BFD-C51FEEE0D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26286" r="40636" b="8455"/>
          <a:stretch>
            <a:fillRect/>
          </a:stretch>
        </p:blipFill>
        <p:spPr bwMode="auto">
          <a:xfrm>
            <a:off x="438912" y="1821961"/>
            <a:ext cx="5039994" cy="397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B400D43-AD35-4F5A-8CD2-1DCAD46124E8}"/>
              </a:ext>
            </a:extLst>
          </p:cNvPr>
          <p:cNvGrpSpPr/>
          <p:nvPr/>
        </p:nvGrpSpPr>
        <p:grpSpPr>
          <a:xfrm>
            <a:off x="5811012" y="1758941"/>
            <a:ext cx="2907792" cy="1994432"/>
            <a:chOff x="1349664" y="893538"/>
            <a:chExt cx="2907792" cy="2562894"/>
          </a:xfrm>
        </p:grpSpPr>
        <p:sp>
          <p:nvSpPr>
            <p:cNvPr id="109" name="Shape 67">
              <a:extLst>
                <a:ext uri="{FF2B5EF4-FFF2-40B4-BE49-F238E27FC236}">
                  <a16:creationId xmlns:a16="http://schemas.microsoft.com/office/drawing/2014/main" id="{CF40885A-703D-4ADD-85B8-35E0D773151F}"/>
                </a:ext>
              </a:extLst>
            </p:cNvPr>
            <p:cNvSpPr/>
            <p:nvPr/>
          </p:nvSpPr>
          <p:spPr>
            <a:xfrm>
              <a:off x="1349664" y="1280160"/>
              <a:ext cx="2907792" cy="2176272"/>
            </a:xfrm>
            <a:prstGeom prst="rect">
              <a:avLst/>
            </a:prstGeom>
            <a:solidFill>
              <a:srgbClr val="FFFEF7"/>
            </a:solidFill>
            <a:ln w="15240">
              <a:solidFill>
                <a:srgbClr val="31558B"/>
              </a:solidFill>
              <a:prstDash val="solid"/>
            </a:ln>
          </p:spPr>
        </p:sp>
        <p:sp>
          <p:nvSpPr>
            <p:cNvPr id="110" name="Shape 68">
              <a:extLst>
                <a:ext uri="{FF2B5EF4-FFF2-40B4-BE49-F238E27FC236}">
                  <a16:creationId xmlns:a16="http://schemas.microsoft.com/office/drawing/2014/main" id="{554679A7-F702-4744-B630-279294DD6B75}"/>
                </a:ext>
              </a:extLst>
            </p:cNvPr>
            <p:cNvSpPr/>
            <p:nvPr/>
          </p:nvSpPr>
          <p:spPr>
            <a:xfrm>
              <a:off x="1550832" y="1024128"/>
              <a:ext cx="640080" cy="411480"/>
            </a:xfrm>
            <a:prstGeom prst="rect">
              <a:avLst/>
            </a:prstGeom>
            <a:solidFill>
              <a:srgbClr val="FF9FBA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111" name="Text 69">
              <a:extLst>
                <a:ext uri="{FF2B5EF4-FFF2-40B4-BE49-F238E27FC236}">
                  <a16:creationId xmlns:a16="http://schemas.microsoft.com/office/drawing/2014/main" id="{A1585948-1481-4E08-B757-277F0C3EC200}"/>
                </a:ext>
              </a:extLst>
            </p:cNvPr>
            <p:cNvSpPr/>
            <p:nvPr/>
          </p:nvSpPr>
          <p:spPr>
            <a:xfrm>
              <a:off x="1514261" y="893538"/>
              <a:ext cx="704085" cy="643777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01</a:t>
              </a:r>
              <a:endParaRPr lang="en-US" sz="400" dirty="0"/>
            </a:p>
          </p:txBody>
        </p:sp>
        <p:sp>
          <p:nvSpPr>
            <p:cNvPr id="112" name="Text 70">
              <a:extLst>
                <a:ext uri="{FF2B5EF4-FFF2-40B4-BE49-F238E27FC236}">
                  <a16:creationId xmlns:a16="http://schemas.microsoft.com/office/drawing/2014/main" id="{88B45F5B-AC02-4F05-B6E6-4B0C1C5AA27E}"/>
                </a:ext>
              </a:extLst>
            </p:cNvPr>
            <p:cNvSpPr/>
            <p:nvPr/>
          </p:nvSpPr>
          <p:spPr>
            <a:xfrm>
              <a:off x="1578264" y="1738942"/>
              <a:ext cx="2468880" cy="320041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22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</a:rPr>
                <a:t>입력</a:t>
              </a:r>
              <a:endParaRPr lang="en-US" sz="2200" dirty="0"/>
            </a:p>
          </p:txBody>
        </p:sp>
        <p:sp>
          <p:nvSpPr>
            <p:cNvPr id="113" name="Text 71">
              <a:extLst>
                <a:ext uri="{FF2B5EF4-FFF2-40B4-BE49-F238E27FC236}">
                  <a16:creationId xmlns:a16="http://schemas.microsoft.com/office/drawing/2014/main" id="{DEC983D4-770C-413A-B1EA-2035CCF6F591}"/>
                </a:ext>
              </a:extLst>
            </p:cNvPr>
            <p:cNvSpPr/>
            <p:nvPr/>
          </p:nvSpPr>
          <p:spPr>
            <a:xfrm>
              <a:off x="1669704" y="2350008"/>
              <a:ext cx="2286000" cy="5669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600" dirty="0"/>
                <a:t>옷 두 개</a:t>
              </a:r>
              <a:r>
                <a:rPr lang="en-US" altLang="ko-KR" sz="1600" dirty="0"/>
                <a:t>(first, second)</a:t>
              </a:r>
              <a:r>
                <a:rPr lang="ko-KR" altLang="en-US" sz="1600" dirty="0"/>
                <a:t>를 받아 둘의 어울림 점수</a:t>
              </a:r>
              <a:r>
                <a:rPr lang="en-US" altLang="ko-KR" sz="1600" dirty="0"/>
                <a:t>(weight) </a:t>
              </a:r>
              <a:r>
                <a:rPr lang="ko-KR" altLang="en-US" sz="1600" dirty="0"/>
                <a:t>계산</a:t>
              </a:r>
              <a:endParaRPr lang="en-US" sz="1600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94577236-37AE-4BFA-AE81-6BADB0773B3F}"/>
              </a:ext>
            </a:extLst>
          </p:cNvPr>
          <p:cNvGrpSpPr/>
          <p:nvPr/>
        </p:nvGrpSpPr>
        <p:grpSpPr>
          <a:xfrm>
            <a:off x="9031024" y="1752153"/>
            <a:ext cx="2907792" cy="2004868"/>
            <a:chOff x="8942832" y="710465"/>
            <a:chExt cx="2907792" cy="2004868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9449B028-84A4-4A1F-9071-F86CAFD929FB}"/>
                </a:ext>
              </a:extLst>
            </p:cNvPr>
            <p:cNvGrpSpPr/>
            <p:nvPr/>
          </p:nvGrpSpPr>
          <p:grpSpPr>
            <a:xfrm>
              <a:off x="8942832" y="822526"/>
              <a:ext cx="2907792" cy="1892807"/>
              <a:chOff x="1349664" y="1024128"/>
              <a:chExt cx="2907792" cy="2432304"/>
            </a:xfrm>
          </p:grpSpPr>
          <p:sp>
            <p:nvSpPr>
              <p:cNvPr id="79" name="Shape 67">
                <a:extLst>
                  <a:ext uri="{FF2B5EF4-FFF2-40B4-BE49-F238E27FC236}">
                    <a16:creationId xmlns:a16="http://schemas.microsoft.com/office/drawing/2014/main" id="{575F29F9-0D00-4E4D-956B-E4B837C96680}"/>
                  </a:ext>
                </a:extLst>
              </p:cNvPr>
              <p:cNvSpPr/>
              <p:nvPr/>
            </p:nvSpPr>
            <p:spPr>
              <a:xfrm>
                <a:off x="1349664" y="1280160"/>
                <a:ext cx="2907792" cy="2176272"/>
              </a:xfrm>
              <a:prstGeom prst="rect">
                <a:avLst/>
              </a:prstGeom>
              <a:solidFill>
                <a:srgbClr val="FFFEF7"/>
              </a:solidFill>
              <a:ln w="1524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80" name="Shape 68">
                <a:extLst>
                  <a:ext uri="{FF2B5EF4-FFF2-40B4-BE49-F238E27FC236}">
                    <a16:creationId xmlns:a16="http://schemas.microsoft.com/office/drawing/2014/main" id="{ABEF7BDF-5D8A-4832-8EB9-EACB38FFC676}"/>
                  </a:ext>
                </a:extLst>
              </p:cNvPr>
              <p:cNvSpPr/>
              <p:nvPr/>
            </p:nvSpPr>
            <p:spPr>
              <a:xfrm>
                <a:off x="1550832" y="1024128"/>
                <a:ext cx="640080" cy="411480"/>
              </a:xfrm>
              <a:prstGeom prst="rect">
                <a:avLst/>
              </a:prstGeom>
              <a:solidFill>
                <a:srgbClr val="FF9FBA"/>
              </a:solidFill>
              <a:ln w="1270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82" name="Text 70">
                <a:extLst>
                  <a:ext uri="{FF2B5EF4-FFF2-40B4-BE49-F238E27FC236}">
                    <a16:creationId xmlns:a16="http://schemas.microsoft.com/office/drawing/2014/main" id="{9B7158FF-96C9-4897-B845-F5A2F37EDF04}"/>
                  </a:ext>
                </a:extLst>
              </p:cNvPr>
              <p:cNvSpPr/>
              <p:nvPr/>
            </p:nvSpPr>
            <p:spPr>
              <a:xfrm>
                <a:off x="1578264" y="1738942"/>
                <a:ext cx="2468880" cy="320041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ko-KR" altLang="en-US" sz="2200" b="1" dirty="0">
                    <a:solidFill>
                      <a:srgbClr val="17294C"/>
                    </a:solidFill>
                    <a:latin typeface="Malgun Gothic" pitchFamily="34" charset="0"/>
                    <a:ea typeface="Malgun Gothic" pitchFamily="34" charset="-122"/>
                  </a:rPr>
                  <a:t>점수 계산</a:t>
                </a:r>
                <a:endParaRPr lang="en-US" sz="2200" dirty="0"/>
              </a:p>
            </p:txBody>
          </p:sp>
          <p:sp>
            <p:nvSpPr>
              <p:cNvPr id="83" name="Text 71">
                <a:extLst>
                  <a:ext uri="{FF2B5EF4-FFF2-40B4-BE49-F238E27FC236}">
                    <a16:creationId xmlns:a16="http://schemas.microsoft.com/office/drawing/2014/main" id="{570824E4-72A9-4EFF-ABFF-245DFC285AA1}"/>
                  </a:ext>
                </a:extLst>
              </p:cNvPr>
              <p:cNvSpPr/>
              <p:nvPr/>
            </p:nvSpPr>
            <p:spPr>
              <a:xfrm>
                <a:off x="1669704" y="2350008"/>
                <a:ext cx="2286000" cy="566928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ko-KR" altLang="en-US" sz="1600" dirty="0"/>
                  <a:t>색상 조합으로 점수 계산</a:t>
                </a:r>
                <a:endParaRPr lang="en-US" sz="1600" dirty="0"/>
              </a:p>
            </p:txBody>
          </p:sp>
        </p:grpSp>
        <p:sp>
          <p:nvSpPr>
            <p:cNvPr id="88" name="Text 69">
              <a:extLst>
                <a:ext uri="{FF2B5EF4-FFF2-40B4-BE49-F238E27FC236}">
                  <a16:creationId xmlns:a16="http://schemas.microsoft.com/office/drawing/2014/main" id="{89AE095C-E8B4-47AE-9E07-CEB0C84A6C21}"/>
                </a:ext>
              </a:extLst>
            </p:cNvPr>
            <p:cNvSpPr/>
            <p:nvPr/>
          </p:nvSpPr>
          <p:spPr>
            <a:xfrm>
              <a:off x="9114772" y="710465"/>
              <a:ext cx="704085" cy="50098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02</a:t>
              </a:r>
              <a:endParaRPr lang="en-US" sz="4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00BD9111-0F04-4F34-96EE-DE1DEA8E4DE4}"/>
              </a:ext>
            </a:extLst>
          </p:cNvPr>
          <p:cNvGrpSpPr/>
          <p:nvPr/>
        </p:nvGrpSpPr>
        <p:grpSpPr>
          <a:xfrm>
            <a:off x="5807461" y="3787039"/>
            <a:ext cx="2907792" cy="2004868"/>
            <a:chOff x="8942832" y="710465"/>
            <a:chExt cx="2907792" cy="2004868"/>
          </a:xfrm>
        </p:grpSpPr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C800002E-CB88-48C3-AC1B-410905030EF0}"/>
                </a:ext>
              </a:extLst>
            </p:cNvPr>
            <p:cNvGrpSpPr/>
            <p:nvPr/>
          </p:nvGrpSpPr>
          <p:grpSpPr>
            <a:xfrm>
              <a:off x="8942832" y="822526"/>
              <a:ext cx="2907792" cy="1892807"/>
              <a:chOff x="1349664" y="1024128"/>
              <a:chExt cx="2907792" cy="2432304"/>
            </a:xfrm>
          </p:grpSpPr>
          <p:sp>
            <p:nvSpPr>
              <p:cNvPr id="104" name="Shape 67">
                <a:extLst>
                  <a:ext uri="{FF2B5EF4-FFF2-40B4-BE49-F238E27FC236}">
                    <a16:creationId xmlns:a16="http://schemas.microsoft.com/office/drawing/2014/main" id="{26220E40-3F44-4AFF-A9F8-92A70EAE03F0}"/>
                  </a:ext>
                </a:extLst>
              </p:cNvPr>
              <p:cNvSpPr/>
              <p:nvPr/>
            </p:nvSpPr>
            <p:spPr>
              <a:xfrm>
                <a:off x="1349664" y="1280160"/>
                <a:ext cx="2907792" cy="2176272"/>
              </a:xfrm>
              <a:prstGeom prst="rect">
                <a:avLst/>
              </a:prstGeom>
              <a:solidFill>
                <a:srgbClr val="FFFEF7"/>
              </a:solidFill>
              <a:ln w="1524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105" name="Shape 68">
                <a:extLst>
                  <a:ext uri="{FF2B5EF4-FFF2-40B4-BE49-F238E27FC236}">
                    <a16:creationId xmlns:a16="http://schemas.microsoft.com/office/drawing/2014/main" id="{D85FCA7E-9A17-4903-90A9-F84DB7CFE717}"/>
                  </a:ext>
                </a:extLst>
              </p:cNvPr>
              <p:cNvSpPr/>
              <p:nvPr/>
            </p:nvSpPr>
            <p:spPr>
              <a:xfrm>
                <a:off x="1550832" y="1024128"/>
                <a:ext cx="640080" cy="411480"/>
              </a:xfrm>
              <a:prstGeom prst="rect">
                <a:avLst/>
              </a:prstGeom>
              <a:solidFill>
                <a:srgbClr val="FF9FBA"/>
              </a:solidFill>
              <a:ln w="1270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106" name="Text 70">
                <a:extLst>
                  <a:ext uri="{FF2B5EF4-FFF2-40B4-BE49-F238E27FC236}">
                    <a16:creationId xmlns:a16="http://schemas.microsoft.com/office/drawing/2014/main" id="{F50F8FED-E161-4C02-95AB-8F77A4CB74AF}"/>
                  </a:ext>
                </a:extLst>
              </p:cNvPr>
              <p:cNvSpPr/>
              <p:nvPr/>
            </p:nvSpPr>
            <p:spPr>
              <a:xfrm>
                <a:off x="1578264" y="1738942"/>
                <a:ext cx="2468880" cy="320041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ko-KR" altLang="en-US" sz="2200" b="1" dirty="0">
                    <a:solidFill>
                      <a:srgbClr val="17294C"/>
                    </a:solidFill>
                    <a:latin typeface="Malgun Gothic" pitchFamily="34" charset="0"/>
                    <a:ea typeface="Malgun Gothic" pitchFamily="34" charset="-122"/>
                  </a:rPr>
                  <a:t>그래프로 만들기</a:t>
                </a:r>
                <a:endParaRPr lang="en-US" sz="2200" dirty="0"/>
              </a:p>
            </p:txBody>
          </p:sp>
          <p:sp>
            <p:nvSpPr>
              <p:cNvPr id="107" name="Text 71">
                <a:extLst>
                  <a:ext uri="{FF2B5EF4-FFF2-40B4-BE49-F238E27FC236}">
                    <a16:creationId xmlns:a16="http://schemas.microsoft.com/office/drawing/2014/main" id="{E30F45C7-2B7C-4AC6-B218-7D77B33D28D3}"/>
                  </a:ext>
                </a:extLst>
              </p:cNvPr>
              <p:cNvSpPr/>
              <p:nvPr/>
            </p:nvSpPr>
            <p:spPr>
              <a:xfrm>
                <a:off x="1669704" y="2350008"/>
                <a:ext cx="2286000" cy="566928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ko-KR" altLang="en-US" sz="1600" dirty="0"/>
                  <a:t>등록된 의상을 그래프의 정점으로 만들기</a:t>
                </a:r>
                <a:endParaRPr lang="en-US" sz="1600" dirty="0"/>
              </a:p>
            </p:txBody>
          </p:sp>
        </p:grpSp>
        <p:sp>
          <p:nvSpPr>
            <p:cNvPr id="103" name="Text 69">
              <a:extLst>
                <a:ext uri="{FF2B5EF4-FFF2-40B4-BE49-F238E27FC236}">
                  <a16:creationId xmlns:a16="http://schemas.microsoft.com/office/drawing/2014/main" id="{A081A1AF-A4DF-4E9C-99D7-080299AEEA75}"/>
                </a:ext>
              </a:extLst>
            </p:cNvPr>
            <p:cNvSpPr/>
            <p:nvPr/>
          </p:nvSpPr>
          <p:spPr>
            <a:xfrm>
              <a:off x="9114772" y="710465"/>
              <a:ext cx="704085" cy="50098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03</a:t>
              </a:r>
              <a:endParaRPr lang="en-US" sz="400" dirty="0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950B1B7C-8D04-4665-AC3C-C6EACA2C8756}"/>
              </a:ext>
            </a:extLst>
          </p:cNvPr>
          <p:cNvGrpSpPr/>
          <p:nvPr/>
        </p:nvGrpSpPr>
        <p:grpSpPr>
          <a:xfrm>
            <a:off x="9031024" y="3784453"/>
            <a:ext cx="2907792" cy="2004868"/>
            <a:chOff x="8942832" y="710465"/>
            <a:chExt cx="2907792" cy="2004868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448196B3-14E5-4249-A245-A7CE9887FC90}"/>
                </a:ext>
              </a:extLst>
            </p:cNvPr>
            <p:cNvGrpSpPr/>
            <p:nvPr/>
          </p:nvGrpSpPr>
          <p:grpSpPr>
            <a:xfrm>
              <a:off x="8942832" y="822526"/>
              <a:ext cx="2907792" cy="1892807"/>
              <a:chOff x="1349664" y="1024128"/>
              <a:chExt cx="2907792" cy="2432304"/>
            </a:xfrm>
          </p:grpSpPr>
          <p:sp>
            <p:nvSpPr>
              <p:cNvPr id="116" name="Shape 67">
                <a:extLst>
                  <a:ext uri="{FF2B5EF4-FFF2-40B4-BE49-F238E27FC236}">
                    <a16:creationId xmlns:a16="http://schemas.microsoft.com/office/drawing/2014/main" id="{7AFEBADA-FD6E-498C-82E9-076696DE257B}"/>
                  </a:ext>
                </a:extLst>
              </p:cNvPr>
              <p:cNvSpPr/>
              <p:nvPr/>
            </p:nvSpPr>
            <p:spPr>
              <a:xfrm>
                <a:off x="1349664" y="1280160"/>
                <a:ext cx="2907792" cy="2176272"/>
              </a:xfrm>
              <a:prstGeom prst="rect">
                <a:avLst/>
              </a:prstGeom>
              <a:solidFill>
                <a:srgbClr val="FFFEF7"/>
              </a:solidFill>
              <a:ln w="1524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117" name="Shape 68">
                <a:extLst>
                  <a:ext uri="{FF2B5EF4-FFF2-40B4-BE49-F238E27FC236}">
                    <a16:creationId xmlns:a16="http://schemas.microsoft.com/office/drawing/2014/main" id="{64890837-6ACF-42C1-A65A-913BF1B36589}"/>
                  </a:ext>
                </a:extLst>
              </p:cNvPr>
              <p:cNvSpPr/>
              <p:nvPr/>
            </p:nvSpPr>
            <p:spPr>
              <a:xfrm>
                <a:off x="1550832" y="1024128"/>
                <a:ext cx="640080" cy="411480"/>
              </a:xfrm>
              <a:prstGeom prst="rect">
                <a:avLst/>
              </a:prstGeom>
              <a:solidFill>
                <a:srgbClr val="FF9FBA"/>
              </a:solidFill>
              <a:ln w="1270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118" name="Text 70">
                <a:extLst>
                  <a:ext uri="{FF2B5EF4-FFF2-40B4-BE49-F238E27FC236}">
                    <a16:creationId xmlns:a16="http://schemas.microsoft.com/office/drawing/2014/main" id="{48F63304-47BF-4A40-804B-A499AA830E00}"/>
                  </a:ext>
                </a:extLst>
              </p:cNvPr>
              <p:cNvSpPr/>
              <p:nvPr/>
            </p:nvSpPr>
            <p:spPr>
              <a:xfrm>
                <a:off x="1578264" y="1738942"/>
                <a:ext cx="2468880" cy="320041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ko-KR" altLang="en-US" sz="2200" b="1" dirty="0">
                    <a:solidFill>
                      <a:srgbClr val="17294C"/>
                    </a:solidFill>
                    <a:latin typeface="Malgun Gothic" pitchFamily="34" charset="0"/>
                    <a:ea typeface="Malgun Gothic" pitchFamily="34" charset="-122"/>
                  </a:rPr>
                  <a:t>가중치 계산</a:t>
                </a:r>
                <a:endParaRPr lang="en-US" sz="2200" dirty="0"/>
              </a:p>
            </p:txBody>
          </p:sp>
          <p:sp>
            <p:nvSpPr>
              <p:cNvPr id="119" name="Text 71">
                <a:extLst>
                  <a:ext uri="{FF2B5EF4-FFF2-40B4-BE49-F238E27FC236}">
                    <a16:creationId xmlns:a16="http://schemas.microsoft.com/office/drawing/2014/main" id="{7A71E5F9-F0DB-4EB6-8BE1-A9D48341B058}"/>
                  </a:ext>
                </a:extLst>
              </p:cNvPr>
              <p:cNvSpPr/>
              <p:nvPr/>
            </p:nvSpPr>
            <p:spPr>
              <a:xfrm>
                <a:off x="1669704" y="2350008"/>
                <a:ext cx="2286000" cy="566928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ko-KR" altLang="en-US" sz="1600" dirty="0"/>
                  <a:t>옷 두 개를 한 번씩 비교하여 점수 계산 </a:t>
                </a:r>
                <a:endParaRPr lang="en-US" altLang="ko-KR" sz="1600" dirty="0"/>
              </a:p>
              <a:p>
                <a:pPr marL="0" indent="0" algn="ctr">
                  <a:buNone/>
                </a:pPr>
                <a:r>
                  <a:rPr lang="en-US" altLang="ko-KR" sz="1600" dirty="0">
                    <a:sym typeface="Wingdings" panose="05000000000000000000" pitchFamily="2" charset="2"/>
                  </a:rPr>
                  <a:t> </a:t>
                </a:r>
                <a:r>
                  <a:rPr lang="ko-KR" altLang="en-US" sz="1600" dirty="0">
                    <a:sym typeface="Wingdings" panose="05000000000000000000" pitchFamily="2" charset="2"/>
                  </a:rPr>
                  <a:t>가중치로 저장</a:t>
                </a:r>
                <a:endParaRPr lang="en-US" sz="1600" dirty="0"/>
              </a:p>
            </p:txBody>
          </p:sp>
        </p:grpSp>
        <p:sp>
          <p:nvSpPr>
            <p:cNvPr id="115" name="Text 69">
              <a:extLst>
                <a:ext uri="{FF2B5EF4-FFF2-40B4-BE49-F238E27FC236}">
                  <a16:creationId xmlns:a16="http://schemas.microsoft.com/office/drawing/2014/main" id="{9D6811A2-3DAF-41DE-A62D-8A0C24F63A49}"/>
                </a:ext>
              </a:extLst>
            </p:cNvPr>
            <p:cNvSpPr/>
            <p:nvPr/>
          </p:nvSpPr>
          <p:spPr>
            <a:xfrm>
              <a:off x="9114772" y="710465"/>
              <a:ext cx="704085" cy="50098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04</a:t>
              </a:r>
              <a:endParaRPr lang="en-US" sz="400" dirty="0"/>
            </a:p>
          </p:txBody>
        </p:sp>
      </p:grpSp>
    </p:spTree>
    <p:extLst>
      <p:ext uri="{BB962C8B-B14F-4D97-AF65-F5344CB8AC3E}">
        <p14:creationId xmlns:p14="http://schemas.microsoft.com/office/powerpoint/2010/main" val="549271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" y="320040"/>
            <a:ext cx="704088" cy="310896"/>
          </a:xfrm>
          <a:prstGeom prst="rect">
            <a:avLst/>
          </a:prstGeom>
          <a:solidFill>
            <a:srgbClr val="FFE77A"/>
          </a:solidFill>
          <a:ln w="13970">
            <a:solidFill>
              <a:srgbClr val="3155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394283"/>
            <a:ext cx="5760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298448" y="329184"/>
            <a:ext cx="4754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altLang="ko-KR" sz="900" b="1" kern="0" spc="15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altLang="ko-KR" sz="900" dirty="0"/>
          </a:p>
        </p:txBody>
      </p:sp>
      <p:sp>
        <p:nvSpPr>
          <p:cNvPr id="67" name="Text 65"/>
          <p:cNvSpPr/>
          <p:nvPr/>
        </p:nvSpPr>
        <p:spPr>
          <a:xfrm>
            <a:off x="438912" y="841248"/>
            <a:ext cx="111099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시행착오와 개선</a:t>
            </a:r>
            <a:endParaRPr lang="en-US" sz="3600" dirty="0"/>
          </a:p>
        </p:txBody>
      </p:sp>
      <p:sp>
        <p:nvSpPr>
          <p:cNvPr id="87" name="Shape 85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1430">
            <a:solidFill>
              <a:srgbClr val="31558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" y="6528816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650" b="1" kern="0" spc="7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MOODROBE | PERSONAL WARDROBE SERVICE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11137392" y="6510528"/>
            <a:ext cx="566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700" dirty="0"/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BE0C9FA0-8C82-4FA3-91D8-6E4D01EC016B}"/>
              </a:ext>
            </a:extLst>
          </p:cNvPr>
          <p:cNvGrpSpPr/>
          <p:nvPr/>
        </p:nvGrpSpPr>
        <p:grpSpPr>
          <a:xfrm>
            <a:off x="594360" y="2176272"/>
            <a:ext cx="11045952" cy="3310128"/>
            <a:chOff x="594360" y="2176272"/>
            <a:chExt cx="11045952" cy="3310128"/>
          </a:xfrm>
        </p:grpSpPr>
        <p:sp>
          <p:nvSpPr>
            <p:cNvPr id="99" name="Shape 67">
              <a:extLst>
                <a:ext uri="{FF2B5EF4-FFF2-40B4-BE49-F238E27FC236}">
                  <a16:creationId xmlns:a16="http://schemas.microsoft.com/office/drawing/2014/main" id="{A9BC4DD3-194E-412F-A5AB-9006353C0804}"/>
                </a:ext>
              </a:extLst>
            </p:cNvPr>
            <p:cNvSpPr/>
            <p:nvPr/>
          </p:nvSpPr>
          <p:spPr>
            <a:xfrm>
              <a:off x="658368" y="2240280"/>
              <a:ext cx="3337560" cy="3246120"/>
            </a:xfrm>
            <a:prstGeom prst="rect">
              <a:avLst/>
            </a:prstGeom>
            <a:solidFill>
              <a:srgbClr val="31558B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100" name="Shape 68">
              <a:extLst>
                <a:ext uri="{FF2B5EF4-FFF2-40B4-BE49-F238E27FC236}">
                  <a16:creationId xmlns:a16="http://schemas.microsoft.com/office/drawing/2014/main" id="{24F94DF5-E0D7-43B0-9AED-28579935848B}"/>
                </a:ext>
              </a:extLst>
            </p:cNvPr>
            <p:cNvSpPr/>
            <p:nvPr/>
          </p:nvSpPr>
          <p:spPr>
            <a:xfrm>
              <a:off x="594360" y="2176272"/>
              <a:ext cx="3337560" cy="3246120"/>
            </a:xfrm>
            <a:prstGeom prst="rect">
              <a:avLst/>
            </a:prstGeom>
            <a:solidFill>
              <a:srgbClr val="FFFEF7"/>
            </a:solidFill>
            <a:ln w="15240">
              <a:solidFill>
                <a:srgbClr val="31558B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1" name="Shape 69">
              <a:extLst>
                <a:ext uri="{FF2B5EF4-FFF2-40B4-BE49-F238E27FC236}">
                  <a16:creationId xmlns:a16="http://schemas.microsoft.com/office/drawing/2014/main" id="{471E2D66-0CC1-46E7-AFFC-86571E64CC00}"/>
                </a:ext>
              </a:extLst>
            </p:cNvPr>
            <p:cNvSpPr/>
            <p:nvPr/>
          </p:nvSpPr>
          <p:spPr>
            <a:xfrm>
              <a:off x="594360" y="2176272"/>
              <a:ext cx="3337560" cy="146304"/>
            </a:xfrm>
            <a:prstGeom prst="rect">
              <a:avLst/>
            </a:prstGeom>
            <a:solidFill>
              <a:srgbClr val="FFE77A"/>
            </a:solidFill>
            <a:ln w="12700">
              <a:solidFill>
                <a:srgbClr val="FFE77A"/>
              </a:solidFill>
              <a:prstDash val="solid"/>
            </a:ln>
          </p:spPr>
        </p:sp>
        <p:sp>
          <p:nvSpPr>
            <p:cNvPr id="102" name="Text 70">
              <a:extLst>
                <a:ext uri="{FF2B5EF4-FFF2-40B4-BE49-F238E27FC236}">
                  <a16:creationId xmlns:a16="http://schemas.microsoft.com/office/drawing/2014/main" id="{5B5701B5-3E02-44EB-903B-3A93FD09E265}"/>
                </a:ext>
              </a:extLst>
            </p:cNvPr>
            <p:cNvSpPr/>
            <p:nvPr/>
          </p:nvSpPr>
          <p:spPr>
            <a:xfrm>
              <a:off x="795528" y="2487168"/>
              <a:ext cx="2935224" cy="3474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>
                <a:buNone/>
              </a:pPr>
              <a:r>
                <a:rPr lang="ko-KR" altLang="en-US" sz="20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</a:rPr>
                <a:t>단순 추천</a:t>
              </a:r>
              <a:endParaRPr lang="en-US" sz="2000" dirty="0"/>
            </a:p>
          </p:txBody>
        </p:sp>
        <p:sp>
          <p:nvSpPr>
            <p:cNvPr id="103" name="Text 71">
              <a:extLst>
                <a:ext uri="{FF2B5EF4-FFF2-40B4-BE49-F238E27FC236}">
                  <a16:creationId xmlns:a16="http://schemas.microsoft.com/office/drawing/2014/main" id="{7AF56174-B9D6-41EC-AF70-5010E868160D}"/>
                </a:ext>
              </a:extLst>
            </p:cNvPr>
            <p:cNvSpPr/>
            <p:nvPr/>
          </p:nvSpPr>
          <p:spPr>
            <a:xfrm>
              <a:off x="795528" y="2962656"/>
              <a:ext cx="2935224" cy="23042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002060"/>
                  </a:solidFill>
                </a:rPr>
                <a:t>초기에는 조건에 따른 결과를 그대로 보여주기만 하는 방식</a:t>
              </a:r>
              <a:endParaRPr lang="en-US" altLang="ko-KR" sz="1600" dirty="0">
                <a:solidFill>
                  <a:srgbClr val="002060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à"/>
              </a:pPr>
              <a:r>
                <a:rPr lang="ko-KR" altLang="en-US" sz="1600" dirty="0" err="1">
                  <a:solidFill>
                    <a:srgbClr val="002060"/>
                  </a:solidFill>
                  <a:sym typeface="Wingdings" panose="05000000000000000000" pitchFamily="2" charset="2"/>
                </a:rPr>
                <a:t>룰렛형</a:t>
              </a:r>
              <a:r>
                <a:rPr lang="ko-KR" altLang="en-US" sz="1600" dirty="0">
                  <a:solidFill>
                    <a:srgbClr val="002060"/>
                  </a:solidFill>
                  <a:sym typeface="Wingdings" panose="05000000000000000000" pitchFamily="2" charset="2"/>
                </a:rPr>
                <a:t> 슬롯 머신 </a:t>
              </a:r>
              <a:r>
                <a:rPr lang="en-US" altLang="ko-KR" sz="1600" dirty="0" err="1">
                  <a:solidFill>
                    <a:srgbClr val="002060"/>
                  </a:solidFill>
                  <a:sym typeface="Wingdings" panose="05000000000000000000" pitchFamily="2" charset="2"/>
                </a:rPr>
                <a:t>ui</a:t>
              </a:r>
              <a:r>
                <a:rPr lang="en-US" altLang="ko-KR" sz="1600" dirty="0">
                  <a:solidFill>
                    <a:srgbClr val="002060"/>
                  </a:solidFill>
                  <a:sym typeface="Wingdings" panose="05000000000000000000" pitchFamily="2" charset="2"/>
                </a:rPr>
                <a:t> </a:t>
              </a:r>
              <a:r>
                <a:rPr lang="ko-KR" altLang="en-US" sz="1600" dirty="0">
                  <a:solidFill>
                    <a:srgbClr val="002060"/>
                  </a:solidFill>
                  <a:sym typeface="Wingdings" panose="05000000000000000000" pitchFamily="2" charset="2"/>
                </a:rPr>
                <a:t>적용하여 재미와 몰입 유발</a:t>
              </a: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104" name="Shape 72">
              <a:extLst>
                <a:ext uri="{FF2B5EF4-FFF2-40B4-BE49-F238E27FC236}">
                  <a16:creationId xmlns:a16="http://schemas.microsoft.com/office/drawing/2014/main" id="{2C70DFA6-E9ED-4D9B-818D-1429893572AC}"/>
                </a:ext>
              </a:extLst>
            </p:cNvPr>
            <p:cNvSpPr/>
            <p:nvPr/>
          </p:nvSpPr>
          <p:spPr>
            <a:xfrm>
              <a:off x="4480560" y="2240280"/>
              <a:ext cx="3337560" cy="3246120"/>
            </a:xfrm>
            <a:prstGeom prst="rect">
              <a:avLst/>
            </a:prstGeom>
            <a:solidFill>
              <a:srgbClr val="31558B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105" name="Shape 73">
              <a:extLst>
                <a:ext uri="{FF2B5EF4-FFF2-40B4-BE49-F238E27FC236}">
                  <a16:creationId xmlns:a16="http://schemas.microsoft.com/office/drawing/2014/main" id="{5B6A7BF7-5DEB-4ADB-A4CE-A89AE560DD72}"/>
                </a:ext>
              </a:extLst>
            </p:cNvPr>
            <p:cNvSpPr/>
            <p:nvPr/>
          </p:nvSpPr>
          <p:spPr>
            <a:xfrm>
              <a:off x="4416552" y="2176272"/>
              <a:ext cx="3337560" cy="3246120"/>
            </a:xfrm>
            <a:prstGeom prst="rect">
              <a:avLst/>
            </a:prstGeom>
            <a:solidFill>
              <a:srgbClr val="FFFEF7"/>
            </a:solidFill>
            <a:ln w="15240">
              <a:solidFill>
                <a:srgbClr val="31558B"/>
              </a:solidFill>
              <a:prstDash val="solid"/>
            </a:ln>
          </p:spPr>
        </p:sp>
        <p:sp>
          <p:nvSpPr>
            <p:cNvPr id="106" name="Shape 74">
              <a:extLst>
                <a:ext uri="{FF2B5EF4-FFF2-40B4-BE49-F238E27FC236}">
                  <a16:creationId xmlns:a16="http://schemas.microsoft.com/office/drawing/2014/main" id="{A036119B-47E1-4804-AEA3-625EFB0E1227}"/>
                </a:ext>
              </a:extLst>
            </p:cNvPr>
            <p:cNvSpPr/>
            <p:nvPr/>
          </p:nvSpPr>
          <p:spPr>
            <a:xfrm>
              <a:off x="4416552" y="2176272"/>
              <a:ext cx="3337560" cy="146304"/>
            </a:xfrm>
            <a:prstGeom prst="rect">
              <a:avLst/>
            </a:prstGeom>
            <a:solidFill>
              <a:srgbClr val="A9EDCE"/>
            </a:solidFill>
            <a:ln w="12700">
              <a:solidFill>
                <a:srgbClr val="A9EDCE"/>
              </a:solidFill>
              <a:prstDash val="solid"/>
            </a:ln>
          </p:spPr>
        </p:sp>
        <p:sp>
          <p:nvSpPr>
            <p:cNvPr id="107" name="Text 75">
              <a:extLst>
                <a:ext uri="{FF2B5EF4-FFF2-40B4-BE49-F238E27FC236}">
                  <a16:creationId xmlns:a16="http://schemas.microsoft.com/office/drawing/2014/main" id="{F03853ED-AB01-42DF-A993-3BE80E4EC53C}"/>
                </a:ext>
              </a:extLst>
            </p:cNvPr>
            <p:cNvSpPr/>
            <p:nvPr/>
          </p:nvSpPr>
          <p:spPr>
            <a:xfrm>
              <a:off x="4617720" y="2487168"/>
              <a:ext cx="2935224" cy="3474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>
                <a:buNone/>
              </a:pPr>
              <a:r>
                <a:rPr lang="ko-KR" altLang="en-US" sz="20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탐욕 알고리즘</a:t>
              </a:r>
              <a:endParaRPr lang="en-US" sz="2000" dirty="0"/>
            </a:p>
          </p:txBody>
        </p:sp>
        <p:sp>
          <p:nvSpPr>
            <p:cNvPr id="108" name="Text 76">
              <a:extLst>
                <a:ext uri="{FF2B5EF4-FFF2-40B4-BE49-F238E27FC236}">
                  <a16:creationId xmlns:a16="http://schemas.microsoft.com/office/drawing/2014/main" id="{90C5727D-47AC-41B1-996E-D696BEACDB47}"/>
                </a:ext>
              </a:extLst>
            </p:cNvPr>
            <p:cNvSpPr/>
            <p:nvPr/>
          </p:nvSpPr>
          <p:spPr>
            <a:xfrm>
              <a:off x="4617720" y="2962656"/>
              <a:ext cx="2935224" cy="23042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002060"/>
                  </a:solidFill>
                </a:rPr>
                <a:t>탐욕 알고리즘은 모든 아이템의 어울림 고려 불가</a:t>
              </a:r>
              <a:endParaRPr lang="en-US" altLang="ko-KR" sz="1600" dirty="0">
                <a:solidFill>
                  <a:srgbClr val="002060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à"/>
              </a:pPr>
              <a:r>
                <a:rPr lang="ko-KR" altLang="en-US" sz="1600" dirty="0">
                  <a:solidFill>
                    <a:srgbClr val="002060"/>
                  </a:solidFill>
                  <a:sym typeface="Wingdings" panose="05000000000000000000" pitchFamily="2" charset="2"/>
                </a:rPr>
                <a:t>탐욕 알고리즘 대신 완전 탐색 방식 사용</a:t>
              </a:r>
              <a:endParaRPr lang="en-US" altLang="ko-KR" sz="1600" dirty="0">
                <a:solidFill>
                  <a:srgbClr val="002060"/>
                </a:solidFill>
                <a:sym typeface="Wingdings" panose="05000000000000000000" pitchFamily="2" charset="2"/>
              </a:endParaRPr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D8AC021E-881A-431F-AD4E-B1467D769755}"/>
                </a:ext>
              </a:extLst>
            </p:cNvPr>
            <p:cNvGrpSpPr/>
            <p:nvPr/>
          </p:nvGrpSpPr>
          <p:grpSpPr>
            <a:xfrm>
              <a:off x="8238744" y="2176272"/>
              <a:ext cx="3401568" cy="3310128"/>
              <a:chOff x="8238744" y="2176272"/>
              <a:chExt cx="3401568" cy="3310128"/>
            </a:xfrm>
          </p:grpSpPr>
          <p:sp>
            <p:nvSpPr>
              <p:cNvPr id="110" name="Shape 77">
                <a:extLst>
                  <a:ext uri="{FF2B5EF4-FFF2-40B4-BE49-F238E27FC236}">
                    <a16:creationId xmlns:a16="http://schemas.microsoft.com/office/drawing/2014/main" id="{281D934A-B985-4498-85FD-BFB66A2DC00C}"/>
                  </a:ext>
                </a:extLst>
              </p:cNvPr>
              <p:cNvSpPr/>
              <p:nvPr/>
            </p:nvSpPr>
            <p:spPr>
              <a:xfrm>
                <a:off x="8302752" y="2240280"/>
                <a:ext cx="3337560" cy="3246120"/>
              </a:xfrm>
              <a:prstGeom prst="rect">
                <a:avLst/>
              </a:prstGeom>
              <a:solidFill>
                <a:srgbClr val="31558B"/>
              </a:solidFill>
              <a:ln w="1270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111" name="Shape 78">
                <a:extLst>
                  <a:ext uri="{FF2B5EF4-FFF2-40B4-BE49-F238E27FC236}">
                    <a16:creationId xmlns:a16="http://schemas.microsoft.com/office/drawing/2014/main" id="{F94D3A3F-9D31-4624-9924-2E255449F9E4}"/>
                  </a:ext>
                </a:extLst>
              </p:cNvPr>
              <p:cNvSpPr/>
              <p:nvPr/>
            </p:nvSpPr>
            <p:spPr>
              <a:xfrm>
                <a:off x="8238744" y="2176272"/>
                <a:ext cx="3337560" cy="3246120"/>
              </a:xfrm>
              <a:prstGeom prst="rect">
                <a:avLst/>
              </a:prstGeom>
              <a:solidFill>
                <a:srgbClr val="FFFEF7"/>
              </a:solidFill>
              <a:ln w="1524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112" name="Shape 79">
                <a:extLst>
                  <a:ext uri="{FF2B5EF4-FFF2-40B4-BE49-F238E27FC236}">
                    <a16:creationId xmlns:a16="http://schemas.microsoft.com/office/drawing/2014/main" id="{9987DC21-349C-4CC5-BD41-9C4C83A0D797}"/>
                  </a:ext>
                </a:extLst>
              </p:cNvPr>
              <p:cNvSpPr/>
              <p:nvPr/>
            </p:nvSpPr>
            <p:spPr>
              <a:xfrm>
                <a:off x="8238744" y="2176272"/>
                <a:ext cx="3337560" cy="146304"/>
              </a:xfrm>
              <a:prstGeom prst="rect">
                <a:avLst/>
              </a:prstGeom>
              <a:solidFill>
                <a:srgbClr val="FF9FBA"/>
              </a:solidFill>
              <a:ln w="12700">
                <a:solidFill>
                  <a:srgbClr val="FF9FBA"/>
                </a:solidFill>
                <a:prstDash val="solid"/>
              </a:ln>
            </p:spPr>
          </p:sp>
          <p:sp>
            <p:nvSpPr>
              <p:cNvPr id="113" name="Text 80">
                <a:extLst>
                  <a:ext uri="{FF2B5EF4-FFF2-40B4-BE49-F238E27FC236}">
                    <a16:creationId xmlns:a16="http://schemas.microsoft.com/office/drawing/2014/main" id="{B594641B-A87E-4A10-9ABA-75A269B356CC}"/>
                  </a:ext>
                </a:extLst>
              </p:cNvPr>
              <p:cNvSpPr/>
              <p:nvPr/>
            </p:nvSpPr>
            <p:spPr>
              <a:xfrm>
                <a:off x="8439912" y="2487168"/>
                <a:ext cx="2935224" cy="347472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</p:txBody>
          </p:sp>
          <p:sp>
            <p:nvSpPr>
              <p:cNvPr id="114" name="Text 81">
                <a:extLst>
                  <a:ext uri="{FF2B5EF4-FFF2-40B4-BE49-F238E27FC236}">
                    <a16:creationId xmlns:a16="http://schemas.microsoft.com/office/drawing/2014/main" id="{01E17D9D-10B0-40A6-8F0C-0FAD9DD85806}"/>
                  </a:ext>
                </a:extLst>
              </p:cNvPr>
              <p:cNvSpPr/>
              <p:nvPr/>
            </p:nvSpPr>
            <p:spPr>
              <a:xfrm>
                <a:off x="8439912" y="2962656"/>
                <a:ext cx="2935224" cy="2304288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t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/>
                  <a:t>사용자의 정보가 저장되지 않음</a:t>
                </a:r>
                <a:endParaRPr lang="en-US" altLang="ko-KR" sz="16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à"/>
                </a:pPr>
                <a:r>
                  <a:rPr lang="ko-KR" altLang="en-US" sz="1600" dirty="0">
                    <a:sym typeface="Wingdings" panose="05000000000000000000" pitchFamily="2" charset="2"/>
                  </a:rPr>
                  <a:t>브라우저에 저장하도록 변경</a:t>
                </a:r>
                <a:endParaRPr lang="en-US" altLang="ko-KR" sz="1600" dirty="0">
                  <a:sym typeface="Wingdings" panose="05000000000000000000" pitchFamily="2" charset="2"/>
                </a:endParaRPr>
              </a:p>
            </p:txBody>
          </p:sp>
        </p:grpSp>
      </p:grpSp>
      <p:sp>
        <p:nvSpPr>
          <p:cNvPr id="123" name="Text 75">
            <a:extLst>
              <a:ext uri="{FF2B5EF4-FFF2-40B4-BE49-F238E27FC236}">
                <a16:creationId xmlns:a16="http://schemas.microsoft.com/office/drawing/2014/main" id="{EF04B81B-766B-474C-94D7-F190D6D0037F}"/>
              </a:ext>
            </a:extLst>
          </p:cNvPr>
          <p:cNvSpPr/>
          <p:nvPr/>
        </p:nvSpPr>
        <p:spPr>
          <a:xfrm>
            <a:off x="8410929" y="2487168"/>
            <a:ext cx="293522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</a:rPr>
              <a:t>저장 범위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94674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1359" y="370332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479" y="38404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-281813" y="5110626"/>
            <a:ext cx="20643296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4536" y="1129719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" y="320040"/>
            <a:ext cx="704088" cy="310896"/>
          </a:xfrm>
          <a:prstGeom prst="rect">
            <a:avLst/>
          </a:prstGeom>
          <a:solidFill>
            <a:srgbClr val="FFE77A"/>
          </a:solidFill>
          <a:ln w="13970">
            <a:solidFill>
              <a:srgbClr val="31558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Text 62"/>
          <p:cNvSpPr/>
          <p:nvPr/>
        </p:nvSpPr>
        <p:spPr>
          <a:xfrm>
            <a:off x="502920" y="397764"/>
            <a:ext cx="5760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</a:p>
        </p:txBody>
      </p:sp>
      <p:sp>
        <p:nvSpPr>
          <p:cNvPr id="65" name="Text 63"/>
          <p:cNvSpPr/>
          <p:nvPr/>
        </p:nvSpPr>
        <p:spPr>
          <a:xfrm>
            <a:off x="1298448" y="329184"/>
            <a:ext cx="4754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altLang="ko-KR" sz="900" b="1" kern="0" spc="15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DISCRETE MATHEMATICS</a:t>
            </a:r>
            <a:endParaRPr lang="en-US" altLang="ko-KR" sz="900" dirty="0"/>
          </a:p>
        </p:txBody>
      </p:sp>
      <p:sp>
        <p:nvSpPr>
          <p:cNvPr id="67" name="Text 65"/>
          <p:cNvSpPr/>
          <p:nvPr/>
        </p:nvSpPr>
        <p:spPr>
          <a:xfrm>
            <a:off x="438912" y="841248"/>
            <a:ext cx="111099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altLang="ko-KR" sz="3600" dirty="0"/>
          </a:p>
        </p:txBody>
      </p:sp>
      <p:sp>
        <p:nvSpPr>
          <p:cNvPr id="84" name="Shape 82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1430">
            <a:solidFill>
              <a:srgbClr val="31558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" y="6528816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650" b="1" kern="0" spc="7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MOODROBE | PERSONAL WARDROBE SERVICE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11137392" y="6510528"/>
            <a:ext cx="566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700" dirty="0"/>
          </a:p>
        </p:txBody>
      </p:sp>
      <p:sp>
        <p:nvSpPr>
          <p:cNvPr id="87" name="Rectangle 2">
            <a:extLst>
              <a:ext uri="{FF2B5EF4-FFF2-40B4-BE49-F238E27FC236}">
                <a16:creationId xmlns:a16="http://schemas.microsoft.com/office/drawing/2014/main" id="{9A232AD2-8F0F-4BBC-B075-9FBF8AA46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1813" y="-10015"/>
            <a:ext cx="20643812" cy="765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02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" y="320040"/>
            <a:ext cx="704088" cy="310896"/>
          </a:xfrm>
          <a:prstGeom prst="rect">
            <a:avLst/>
          </a:prstGeom>
          <a:solidFill>
            <a:srgbClr val="FFE77A"/>
          </a:solidFill>
          <a:ln w="13970">
            <a:solidFill>
              <a:srgbClr val="3155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394283"/>
            <a:ext cx="5760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298448" y="329184"/>
            <a:ext cx="4754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altLang="ko-KR" sz="900" b="1" kern="0" spc="15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altLang="ko-KR" sz="900" dirty="0"/>
          </a:p>
        </p:txBody>
      </p:sp>
      <p:sp>
        <p:nvSpPr>
          <p:cNvPr id="67" name="Text 65"/>
          <p:cNvSpPr/>
          <p:nvPr/>
        </p:nvSpPr>
        <p:spPr>
          <a:xfrm>
            <a:off x="438912" y="841248"/>
            <a:ext cx="111099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</a:t>
            </a:r>
            <a:r>
              <a:rPr lang="en-US" altLang="ko-KR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6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향후 계획</a:t>
            </a:r>
            <a:endParaRPr lang="en-US" sz="3600" dirty="0"/>
          </a:p>
        </p:txBody>
      </p:sp>
      <p:sp>
        <p:nvSpPr>
          <p:cNvPr id="87" name="Shape 85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11430">
            <a:solidFill>
              <a:srgbClr val="31558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" y="6528816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650" b="1" kern="0" spc="70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MOODROBE | PERSONAL WARDROBE SERVICE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11137392" y="6510528"/>
            <a:ext cx="5669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57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700" dirty="0"/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BE0C9FA0-8C82-4FA3-91D8-6E4D01EC016B}"/>
              </a:ext>
            </a:extLst>
          </p:cNvPr>
          <p:cNvGrpSpPr/>
          <p:nvPr/>
        </p:nvGrpSpPr>
        <p:grpSpPr>
          <a:xfrm>
            <a:off x="594360" y="2176272"/>
            <a:ext cx="11045952" cy="3310128"/>
            <a:chOff x="594360" y="2176272"/>
            <a:chExt cx="11045952" cy="3310128"/>
          </a:xfrm>
        </p:grpSpPr>
        <p:sp>
          <p:nvSpPr>
            <p:cNvPr id="99" name="Shape 67">
              <a:extLst>
                <a:ext uri="{FF2B5EF4-FFF2-40B4-BE49-F238E27FC236}">
                  <a16:creationId xmlns:a16="http://schemas.microsoft.com/office/drawing/2014/main" id="{A9BC4DD3-194E-412F-A5AB-9006353C0804}"/>
                </a:ext>
              </a:extLst>
            </p:cNvPr>
            <p:cNvSpPr/>
            <p:nvPr/>
          </p:nvSpPr>
          <p:spPr>
            <a:xfrm>
              <a:off x="658368" y="2240280"/>
              <a:ext cx="3337560" cy="3246120"/>
            </a:xfrm>
            <a:prstGeom prst="rect">
              <a:avLst/>
            </a:prstGeom>
            <a:solidFill>
              <a:srgbClr val="31558B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100" name="Shape 68">
              <a:extLst>
                <a:ext uri="{FF2B5EF4-FFF2-40B4-BE49-F238E27FC236}">
                  <a16:creationId xmlns:a16="http://schemas.microsoft.com/office/drawing/2014/main" id="{24F94DF5-E0D7-43B0-9AED-28579935848B}"/>
                </a:ext>
              </a:extLst>
            </p:cNvPr>
            <p:cNvSpPr/>
            <p:nvPr/>
          </p:nvSpPr>
          <p:spPr>
            <a:xfrm>
              <a:off x="594360" y="2176272"/>
              <a:ext cx="3337560" cy="3246120"/>
            </a:xfrm>
            <a:prstGeom prst="rect">
              <a:avLst/>
            </a:prstGeom>
            <a:solidFill>
              <a:srgbClr val="FFFEF7"/>
            </a:solidFill>
            <a:ln w="15240">
              <a:solidFill>
                <a:srgbClr val="31558B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1" name="Shape 69">
              <a:extLst>
                <a:ext uri="{FF2B5EF4-FFF2-40B4-BE49-F238E27FC236}">
                  <a16:creationId xmlns:a16="http://schemas.microsoft.com/office/drawing/2014/main" id="{471E2D66-0CC1-46E7-AFFC-86571E64CC00}"/>
                </a:ext>
              </a:extLst>
            </p:cNvPr>
            <p:cNvSpPr/>
            <p:nvPr/>
          </p:nvSpPr>
          <p:spPr>
            <a:xfrm>
              <a:off x="594360" y="2176272"/>
              <a:ext cx="3337560" cy="146304"/>
            </a:xfrm>
            <a:prstGeom prst="rect">
              <a:avLst/>
            </a:prstGeom>
            <a:solidFill>
              <a:srgbClr val="FFE77A"/>
            </a:solidFill>
            <a:ln w="12700">
              <a:solidFill>
                <a:srgbClr val="FFE77A"/>
              </a:solidFill>
              <a:prstDash val="solid"/>
            </a:ln>
          </p:spPr>
        </p:sp>
        <p:sp>
          <p:nvSpPr>
            <p:cNvPr id="102" name="Text 70">
              <a:extLst>
                <a:ext uri="{FF2B5EF4-FFF2-40B4-BE49-F238E27FC236}">
                  <a16:creationId xmlns:a16="http://schemas.microsoft.com/office/drawing/2014/main" id="{5B5701B5-3E02-44EB-903B-3A93FD09E265}"/>
                </a:ext>
              </a:extLst>
            </p:cNvPr>
            <p:cNvSpPr/>
            <p:nvPr/>
          </p:nvSpPr>
          <p:spPr>
            <a:xfrm>
              <a:off x="795528" y="2487168"/>
              <a:ext cx="2935224" cy="3474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ko-KR" altLang="en-US" sz="24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</a:rPr>
                <a:t>저장 범위</a:t>
              </a:r>
              <a:endParaRPr lang="en-US" sz="2400" dirty="0"/>
            </a:p>
          </p:txBody>
        </p:sp>
        <p:sp>
          <p:nvSpPr>
            <p:cNvPr id="103" name="Text 71">
              <a:extLst>
                <a:ext uri="{FF2B5EF4-FFF2-40B4-BE49-F238E27FC236}">
                  <a16:creationId xmlns:a16="http://schemas.microsoft.com/office/drawing/2014/main" id="{7AF56174-B9D6-41EC-AF70-5010E868160D}"/>
                </a:ext>
              </a:extLst>
            </p:cNvPr>
            <p:cNvSpPr/>
            <p:nvPr/>
          </p:nvSpPr>
          <p:spPr>
            <a:xfrm>
              <a:off x="795528" y="2962656"/>
              <a:ext cx="2935224" cy="23042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rgbClr val="002060"/>
                  </a:solidFill>
                </a:rPr>
                <a:t>브라우저에 저장하는 방식의 한계를 해결할 정보 저장법 탐색</a:t>
              </a:r>
              <a:endParaRPr lang="en-US" sz="2000" dirty="0">
                <a:solidFill>
                  <a:srgbClr val="002060"/>
                </a:solidFill>
              </a:endParaRPr>
            </a:p>
          </p:txBody>
        </p:sp>
        <p:sp>
          <p:nvSpPr>
            <p:cNvPr id="104" name="Shape 72">
              <a:extLst>
                <a:ext uri="{FF2B5EF4-FFF2-40B4-BE49-F238E27FC236}">
                  <a16:creationId xmlns:a16="http://schemas.microsoft.com/office/drawing/2014/main" id="{2C70DFA6-E9ED-4D9B-818D-1429893572AC}"/>
                </a:ext>
              </a:extLst>
            </p:cNvPr>
            <p:cNvSpPr/>
            <p:nvPr/>
          </p:nvSpPr>
          <p:spPr>
            <a:xfrm>
              <a:off x="4480560" y="2240280"/>
              <a:ext cx="3337560" cy="3246120"/>
            </a:xfrm>
            <a:prstGeom prst="rect">
              <a:avLst/>
            </a:prstGeom>
            <a:solidFill>
              <a:srgbClr val="31558B"/>
            </a:solidFill>
            <a:ln w="12700">
              <a:solidFill>
                <a:srgbClr val="31558B"/>
              </a:solidFill>
              <a:prstDash val="solid"/>
            </a:ln>
          </p:spPr>
        </p:sp>
        <p:sp>
          <p:nvSpPr>
            <p:cNvPr id="105" name="Shape 73">
              <a:extLst>
                <a:ext uri="{FF2B5EF4-FFF2-40B4-BE49-F238E27FC236}">
                  <a16:creationId xmlns:a16="http://schemas.microsoft.com/office/drawing/2014/main" id="{5B6A7BF7-5DEB-4ADB-A4CE-A89AE560DD72}"/>
                </a:ext>
              </a:extLst>
            </p:cNvPr>
            <p:cNvSpPr/>
            <p:nvPr/>
          </p:nvSpPr>
          <p:spPr>
            <a:xfrm>
              <a:off x="4416552" y="2176272"/>
              <a:ext cx="3337560" cy="3246120"/>
            </a:xfrm>
            <a:prstGeom prst="rect">
              <a:avLst/>
            </a:prstGeom>
            <a:solidFill>
              <a:srgbClr val="FFFEF7"/>
            </a:solidFill>
            <a:ln w="15240">
              <a:solidFill>
                <a:srgbClr val="31558B"/>
              </a:solidFill>
              <a:prstDash val="solid"/>
            </a:ln>
          </p:spPr>
        </p:sp>
        <p:sp>
          <p:nvSpPr>
            <p:cNvPr id="106" name="Shape 74">
              <a:extLst>
                <a:ext uri="{FF2B5EF4-FFF2-40B4-BE49-F238E27FC236}">
                  <a16:creationId xmlns:a16="http://schemas.microsoft.com/office/drawing/2014/main" id="{A036119B-47E1-4804-AEA3-625EFB0E1227}"/>
                </a:ext>
              </a:extLst>
            </p:cNvPr>
            <p:cNvSpPr/>
            <p:nvPr/>
          </p:nvSpPr>
          <p:spPr>
            <a:xfrm>
              <a:off x="4416552" y="2176272"/>
              <a:ext cx="3337560" cy="146304"/>
            </a:xfrm>
            <a:prstGeom prst="rect">
              <a:avLst/>
            </a:prstGeom>
            <a:solidFill>
              <a:srgbClr val="A9EDCE"/>
            </a:solidFill>
            <a:ln w="12700">
              <a:solidFill>
                <a:srgbClr val="A9EDCE"/>
              </a:solidFill>
              <a:prstDash val="solid"/>
            </a:ln>
          </p:spPr>
        </p:sp>
        <p:sp>
          <p:nvSpPr>
            <p:cNvPr id="107" name="Text 75">
              <a:extLst>
                <a:ext uri="{FF2B5EF4-FFF2-40B4-BE49-F238E27FC236}">
                  <a16:creationId xmlns:a16="http://schemas.microsoft.com/office/drawing/2014/main" id="{F03853ED-AB01-42DF-A993-3BE80E4EC53C}"/>
                </a:ext>
              </a:extLst>
            </p:cNvPr>
            <p:cNvSpPr/>
            <p:nvPr/>
          </p:nvSpPr>
          <p:spPr>
            <a:xfrm>
              <a:off x="4617720" y="2487168"/>
              <a:ext cx="2935224" cy="3474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ko-KR" altLang="en-US" sz="2400" b="1" dirty="0">
                  <a:solidFill>
                    <a:srgbClr val="17294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고정 가중치</a:t>
              </a:r>
              <a:endParaRPr lang="en-US" sz="2400" dirty="0"/>
            </a:p>
          </p:txBody>
        </p:sp>
        <p:sp>
          <p:nvSpPr>
            <p:cNvPr id="108" name="Text 76">
              <a:extLst>
                <a:ext uri="{FF2B5EF4-FFF2-40B4-BE49-F238E27FC236}">
                  <a16:creationId xmlns:a16="http://schemas.microsoft.com/office/drawing/2014/main" id="{90C5727D-47AC-41B1-996E-D696BEACDB47}"/>
                </a:ext>
              </a:extLst>
            </p:cNvPr>
            <p:cNvSpPr/>
            <p:nvPr/>
          </p:nvSpPr>
          <p:spPr>
            <a:xfrm>
              <a:off x="4617720" y="2962656"/>
              <a:ext cx="2935224" cy="23042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rgbClr val="002060"/>
                  </a:solidFill>
                  <a:sym typeface="Wingdings" panose="05000000000000000000" pitchFamily="2" charset="2"/>
                </a:rPr>
                <a:t>조건에 대한 점수가 미리 정해져 있음</a:t>
              </a:r>
              <a:endParaRPr lang="en-US" altLang="ko-KR" sz="2000" dirty="0">
                <a:solidFill>
                  <a:srgbClr val="002060"/>
                </a:solidFill>
                <a:sym typeface="Wingdings" panose="05000000000000000000" pitchFamily="2" charset="2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à"/>
              </a:pPr>
              <a:r>
                <a:rPr lang="ko-KR" altLang="en-US" sz="2000" dirty="0">
                  <a:solidFill>
                    <a:srgbClr val="002060"/>
                  </a:solidFill>
                  <a:sym typeface="Wingdings" panose="05000000000000000000" pitchFamily="2" charset="2"/>
                </a:rPr>
                <a:t>선호도에 따른 추천 불가</a:t>
              </a:r>
              <a:endParaRPr lang="en-US" altLang="ko-KR" sz="2000" dirty="0">
                <a:solidFill>
                  <a:srgbClr val="002060"/>
                </a:solidFill>
                <a:sym typeface="Wingdings" panose="05000000000000000000" pitchFamily="2" charset="2"/>
              </a:endParaRPr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D8AC021E-881A-431F-AD4E-B1467D769755}"/>
                </a:ext>
              </a:extLst>
            </p:cNvPr>
            <p:cNvGrpSpPr/>
            <p:nvPr/>
          </p:nvGrpSpPr>
          <p:grpSpPr>
            <a:xfrm>
              <a:off x="8238744" y="2176272"/>
              <a:ext cx="3401568" cy="3310128"/>
              <a:chOff x="8238744" y="2176272"/>
              <a:chExt cx="3401568" cy="3310128"/>
            </a:xfrm>
          </p:grpSpPr>
          <p:sp>
            <p:nvSpPr>
              <p:cNvPr id="110" name="Shape 77">
                <a:extLst>
                  <a:ext uri="{FF2B5EF4-FFF2-40B4-BE49-F238E27FC236}">
                    <a16:creationId xmlns:a16="http://schemas.microsoft.com/office/drawing/2014/main" id="{281D934A-B985-4498-85FD-BFB66A2DC00C}"/>
                  </a:ext>
                </a:extLst>
              </p:cNvPr>
              <p:cNvSpPr/>
              <p:nvPr/>
            </p:nvSpPr>
            <p:spPr>
              <a:xfrm>
                <a:off x="8302752" y="2240280"/>
                <a:ext cx="3337560" cy="3246120"/>
              </a:xfrm>
              <a:prstGeom prst="rect">
                <a:avLst/>
              </a:prstGeom>
              <a:solidFill>
                <a:srgbClr val="31558B"/>
              </a:solidFill>
              <a:ln w="1270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111" name="Shape 78">
                <a:extLst>
                  <a:ext uri="{FF2B5EF4-FFF2-40B4-BE49-F238E27FC236}">
                    <a16:creationId xmlns:a16="http://schemas.microsoft.com/office/drawing/2014/main" id="{F94D3A3F-9D31-4624-9924-2E255449F9E4}"/>
                  </a:ext>
                </a:extLst>
              </p:cNvPr>
              <p:cNvSpPr/>
              <p:nvPr/>
            </p:nvSpPr>
            <p:spPr>
              <a:xfrm>
                <a:off x="8238744" y="2176272"/>
                <a:ext cx="3337560" cy="3246120"/>
              </a:xfrm>
              <a:prstGeom prst="rect">
                <a:avLst/>
              </a:prstGeom>
              <a:solidFill>
                <a:srgbClr val="FFFEF7"/>
              </a:solidFill>
              <a:ln w="15240">
                <a:solidFill>
                  <a:srgbClr val="31558B"/>
                </a:solidFill>
                <a:prstDash val="solid"/>
              </a:ln>
            </p:spPr>
          </p:sp>
          <p:sp>
            <p:nvSpPr>
              <p:cNvPr id="112" name="Shape 79">
                <a:extLst>
                  <a:ext uri="{FF2B5EF4-FFF2-40B4-BE49-F238E27FC236}">
                    <a16:creationId xmlns:a16="http://schemas.microsoft.com/office/drawing/2014/main" id="{9987DC21-349C-4CC5-BD41-9C4C83A0D797}"/>
                  </a:ext>
                </a:extLst>
              </p:cNvPr>
              <p:cNvSpPr/>
              <p:nvPr/>
            </p:nvSpPr>
            <p:spPr>
              <a:xfrm>
                <a:off x="8238744" y="2176272"/>
                <a:ext cx="3337560" cy="146304"/>
              </a:xfrm>
              <a:prstGeom prst="rect">
                <a:avLst/>
              </a:prstGeom>
              <a:solidFill>
                <a:srgbClr val="FF9FBA"/>
              </a:solidFill>
              <a:ln w="12700">
                <a:solidFill>
                  <a:srgbClr val="FF9FBA"/>
                </a:solidFill>
                <a:prstDash val="solid"/>
              </a:ln>
            </p:spPr>
          </p:sp>
          <p:sp>
            <p:nvSpPr>
              <p:cNvPr id="113" name="Text 80">
                <a:extLst>
                  <a:ext uri="{FF2B5EF4-FFF2-40B4-BE49-F238E27FC236}">
                    <a16:creationId xmlns:a16="http://schemas.microsoft.com/office/drawing/2014/main" id="{B594641B-A87E-4A10-9ABA-75A269B356CC}"/>
                  </a:ext>
                </a:extLst>
              </p:cNvPr>
              <p:cNvSpPr/>
              <p:nvPr/>
            </p:nvSpPr>
            <p:spPr>
              <a:xfrm>
                <a:off x="8439912" y="2487168"/>
                <a:ext cx="2935224" cy="347472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</p:txBody>
          </p:sp>
          <p:sp>
            <p:nvSpPr>
              <p:cNvPr id="114" name="Text 81">
                <a:extLst>
                  <a:ext uri="{FF2B5EF4-FFF2-40B4-BE49-F238E27FC236}">
                    <a16:creationId xmlns:a16="http://schemas.microsoft.com/office/drawing/2014/main" id="{01E17D9D-10B0-40A6-8F0C-0FAD9DD85806}"/>
                  </a:ext>
                </a:extLst>
              </p:cNvPr>
              <p:cNvSpPr/>
              <p:nvPr/>
            </p:nvSpPr>
            <p:spPr>
              <a:xfrm>
                <a:off x="8439912" y="2962656"/>
                <a:ext cx="2935224" cy="2304288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t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 dirty="0">
                    <a:solidFill>
                      <a:srgbClr val="002060"/>
                    </a:solidFill>
                    <a:sym typeface="Wingdings" panose="05000000000000000000" pitchFamily="2" charset="2"/>
                  </a:rPr>
                  <a:t>습도나 풍속 등 상세조건 반영 </a:t>
                </a:r>
                <a:r>
                  <a:rPr lang="en-US" altLang="ko-KR" sz="2000" dirty="0">
                    <a:solidFill>
                      <a:srgbClr val="002060"/>
                    </a:solidFill>
                    <a:sym typeface="Wingdings" panose="05000000000000000000" pitchFamily="2" charset="2"/>
                  </a:rPr>
                  <a:t>x</a:t>
                </a:r>
              </a:p>
            </p:txBody>
          </p:sp>
        </p:grpSp>
      </p:grpSp>
      <p:sp>
        <p:nvSpPr>
          <p:cNvPr id="123" name="Text 75">
            <a:extLst>
              <a:ext uri="{FF2B5EF4-FFF2-40B4-BE49-F238E27FC236}">
                <a16:creationId xmlns:a16="http://schemas.microsoft.com/office/drawing/2014/main" id="{EF04B81B-766B-474C-94D7-F190D6D0037F}"/>
              </a:ext>
            </a:extLst>
          </p:cNvPr>
          <p:cNvSpPr/>
          <p:nvPr/>
        </p:nvSpPr>
        <p:spPr>
          <a:xfrm>
            <a:off x="8410929" y="2487168"/>
            <a:ext cx="293522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</a:rPr>
              <a:t>입력 정보 단순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2610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E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그림 72">
            <a:extLst>
              <a:ext uri="{FF2B5EF4-FFF2-40B4-BE49-F238E27FC236}">
                <a16:creationId xmlns:a16="http://schemas.microsoft.com/office/drawing/2014/main" id="{425F1566-8C0A-4598-803A-62B4303C53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24" t="40953" r="52599" b="36097"/>
          <a:stretch/>
        </p:blipFill>
        <p:spPr>
          <a:xfrm>
            <a:off x="450799" y="1001267"/>
            <a:ext cx="5227625" cy="822961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508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7294C"/>
          </a:solidFill>
          <a:ln w="12700">
            <a:solidFill>
              <a:srgbClr val="17294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58368" y="1938528"/>
            <a:ext cx="589788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코디 고민을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729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옷장 경험으로 바꾸다</a:t>
            </a:r>
            <a:endParaRPr lang="en-US" sz="2700" dirty="0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7EF7A207-5EE0-45F1-A8E0-AC157CEBAA97}"/>
              </a:ext>
            </a:extLst>
          </p:cNvPr>
          <p:cNvGrpSpPr/>
          <p:nvPr/>
        </p:nvGrpSpPr>
        <p:grpSpPr>
          <a:xfrm>
            <a:off x="-227228" y="2453110"/>
            <a:ext cx="6829196" cy="2850411"/>
            <a:chOff x="28803" y="4309341"/>
            <a:chExt cx="5751577" cy="1865375"/>
          </a:xfrm>
        </p:grpSpPr>
        <p:sp>
          <p:nvSpPr>
            <p:cNvPr id="70" name="Shape 67"/>
            <p:cNvSpPr/>
            <p:nvPr/>
          </p:nvSpPr>
          <p:spPr>
            <a:xfrm>
              <a:off x="667512" y="4937760"/>
              <a:ext cx="4480560" cy="594360"/>
            </a:xfrm>
            <a:prstGeom prst="rect">
              <a:avLst/>
            </a:prstGeom>
            <a:solidFill>
              <a:srgbClr val="FFE77A"/>
            </a:solidFill>
            <a:ln w="15240">
              <a:solidFill>
                <a:srgbClr val="31558B"/>
              </a:solidFill>
              <a:prstDash val="solid"/>
            </a:ln>
          </p:spPr>
        </p:sp>
        <p:sp>
          <p:nvSpPr>
            <p:cNvPr id="71" name="Text 68"/>
            <p:cNvSpPr/>
            <p:nvPr/>
          </p:nvSpPr>
          <p:spPr>
            <a:xfrm>
              <a:off x="28803" y="4309341"/>
              <a:ext cx="5751577" cy="1865375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17294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THANK YOU</a:t>
              </a:r>
              <a:endParaRPr lang="en-US" sz="40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390</Words>
  <Application>Microsoft Office PowerPoint</Application>
  <PresentationFormat>와이드스크린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Malgun Gothic</vt:lpstr>
      <vt:lpstr>Malgun Gothic</vt:lpstr>
      <vt:lpstr>Arial</vt:lpstr>
      <vt:lpstr>Courier New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MOODROBE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MOODROBE - 나만의 옷장으로 완성하는 오늘의 코디</dc:title>
  <dc:subject>MOODROBE service presentation</dc:subject>
  <dc:creator>MOODROBE</dc:creator>
  <cp:lastModifiedBy>USER</cp:lastModifiedBy>
  <cp:revision>18</cp:revision>
  <dcterms:created xsi:type="dcterms:W3CDTF">2026-07-29T00:51:52Z</dcterms:created>
  <dcterms:modified xsi:type="dcterms:W3CDTF">2026-07-29T03:42:54Z</dcterms:modified>
</cp:coreProperties>
</file>