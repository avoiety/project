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599525" cy="32399288"/>
  <p:notesSz cx="6858000" cy="9144000"/>
  <p:embeddedFontLst>
    <p:embeddedFont>
      <p:font typeface="Play" panose="020B0600000101010101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j+B1nbA6mOLq6GOVHTwffmstU4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3" d="100"/>
          <a:sy n="23" d="100"/>
        </p:scale>
        <p:origin x="772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619965" y="5302386"/>
            <a:ext cx="18359596" cy="11279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73"/>
              <a:buFont typeface="Play"/>
              <a:buNone/>
              <a:defRPr sz="1417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236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1pPr>
            <a:lvl2pPr lvl="1" algn="ctr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4724"/>
            </a:lvl2pPr>
            <a:lvl3pPr lvl="2" algn="ctr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4252"/>
              <a:buNone/>
              <a:defRPr sz="4252"/>
            </a:lvl3pPr>
            <a:lvl4pPr lvl="3" algn="ctr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/>
            </a:lvl4pPr>
            <a:lvl5pPr lvl="4" algn="ctr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/>
            </a:lvl5pPr>
            <a:lvl6pPr lvl="5" algn="ctr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/>
            </a:lvl6pPr>
            <a:lvl7pPr lvl="6" algn="ctr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/>
            </a:lvl7pPr>
            <a:lvl8pPr lvl="7" algn="ctr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/>
            </a:lvl8pPr>
            <a:lvl9pPr lvl="8" algn="ctr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3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1473719" y="8077332"/>
            <a:ext cx="18629590" cy="1347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73"/>
              <a:buFont typeface="Play"/>
              <a:buNone/>
              <a:defRPr sz="1417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1473719" y="21682033"/>
            <a:ext cx="18629590" cy="7087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362"/>
              </a:spcBef>
              <a:spcAft>
                <a:spcPts val="0"/>
              </a:spcAft>
              <a:buClr>
                <a:srgbClr val="757575"/>
              </a:buClr>
              <a:buSzPts val="5669"/>
              <a:buNone/>
              <a:defRPr sz="5669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rgbClr val="757575"/>
              </a:buClr>
              <a:buSzPts val="4724"/>
              <a:buNone/>
              <a:defRPr sz="4724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rgbClr val="757575"/>
              </a:buClr>
              <a:buSzPts val="4252"/>
              <a:buNone/>
              <a:defRPr sz="4252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rgbClr val="757575"/>
              </a:buClr>
              <a:buSzPts val="3780"/>
              <a:buNone/>
              <a:defRPr sz="378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rgbClr val="757575"/>
              </a:buClr>
              <a:buSzPts val="3780"/>
              <a:buNone/>
              <a:defRPr sz="378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rgbClr val="757575"/>
              </a:buClr>
              <a:buSzPts val="3780"/>
              <a:buNone/>
              <a:defRPr sz="378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rgbClr val="757575"/>
              </a:buClr>
              <a:buSzPts val="3780"/>
              <a:buNone/>
              <a:defRPr sz="378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rgbClr val="757575"/>
              </a:buClr>
              <a:buSzPts val="3780"/>
              <a:buNone/>
              <a:defRPr sz="378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rgbClr val="757575"/>
              </a:buClr>
              <a:buSzPts val="3780"/>
              <a:buNone/>
              <a:defRPr sz="378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1484967" y="8624810"/>
            <a:ext cx="9179798" cy="2055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3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10934760" y="8624810"/>
            <a:ext cx="9179798" cy="2055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3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1487781" y="1724969"/>
            <a:ext cx="18629590" cy="6262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1487783" y="7942328"/>
            <a:ext cx="9137610" cy="38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36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 b="1"/>
            </a:lvl1pPr>
            <a:lvl2pPr marL="914400" lvl="1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4724" b="1"/>
            </a:lvl2pPr>
            <a:lvl3pPr marL="1371600" lvl="2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4252"/>
              <a:buNone/>
              <a:defRPr sz="4252" b="1"/>
            </a:lvl3pPr>
            <a:lvl4pPr marL="1828800" lvl="3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 b="1"/>
            </a:lvl4pPr>
            <a:lvl5pPr marL="2286000" lvl="4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 b="1"/>
            </a:lvl5pPr>
            <a:lvl6pPr marL="2743200" lvl="5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 b="1"/>
            </a:lvl6pPr>
            <a:lvl7pPr marL="3200400" lvl="6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 b="1"/>
            </a:lvl7pPr>
            <a:lvl8pPr marL="3657600" lvl="7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 b="1"/>
            </a:lvl8pPr>
            <a:lvl9pPr marL="4114800" lvl="8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1487783" y="11834740"/>
            <a:ext cx="9137610" cy="1740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3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0934761" y="7942328"/>
            <a:ext cx="9182611" cy="38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36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 b="1"/>
            </a:lvl1pPr>
            <a:lvl2pPr marL="914400" lvl="1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4724" b="1"/>
            </a:lvl2pPr>
            <a:lvl3pPr marL="1371600" lvl="2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4252"/>
              <a:buNone/>
              <a:defRPr sz="4252" b="1"/>
            </a:lvl3pPr>
            <a:lvl4pPr marL="1828800" lvl="3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 b="1"/>
            </a:lvl4pPr>
            <a:lvl5pPr marL="2286000" lvl="4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 b="1"/>
            </a:lvl5pPr>
            <a:lvl6pPr marL="2743200" lvl="5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 b="1"/>
            </a:lvl6pPr>
            <a:lvl7pPr marL="3200400" lvl="6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 b="1"/>
            </a:lvl7pPr>
            <a:lvl8pPr marL="3657600" lvl="7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 b="1"/>
            </a:lvl8pPr>
            <a:lvl9pPr marL="4114800" lvl="8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0934761" y="11834740"/>
            <a:ext cx="9182611" cy="1740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3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59"/>
              <a:buFont typeface="Play"/>
              <a:buNone/>
              <a:defRPr sz="755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9182611" y="4664905"/>
            <a:ext cx="10934760" cy="23024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708597" algn="l">
              <a:lnSpc>
                <a:spcPct val="90000"/>
              </a:lnSpc>
              <a:spcBef>
                <a:spcPts val="2362"/>
              </a:spcBef>
              <a:spcAft>
                <a:spcPts val="0"/>
              </a:spcAft>
              <a:buClr>
                <a:schemeClr val="dk1"/>
              </a:buClr>
              <a:buSzPts val="7559"/>
              <a:buChar char="•"/>
              <a:defRPr sz="7559"/>
            </a:lvl1pPr>
            <a:lvl2pPr marL="914400" lvl="1" indent="-648589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6614"/>
              <a:buChar char="•"/>
              <a:defRPr sz="6614"/>
            </a:lvl2pPr>
            <a:lvl3pPr marL="1371600" lvl="2" indent="-588582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5669"/>
              <a:buChar char="•"/>
              <a:defRPr sz="5669"/>
            </a:lvl3pPr>
            <a:lvl4pPr marL="1828800" lvl="3" indent="-528574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4724"/>
              <a:buChar char="•"/>
              <a:defRPr sz="4724"/>
            </a:lvl4pPr>
            <a:lvl5pPr marL="2286000" lvl="4" indent="-528574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4724"/>
              <a:buChar char="•"/>
              <a:defRPr sz="4724"/>
            </a:lvl5pPr>
            <a:lvl6pPr marL="2743200" lvl="5" indent="-528574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4724"/>
              <a:buChar char="•"/>
              <a:defRPr sz="4724"/>
            </a:lvl6pPr>
            <a:lvl7pPr marL="3200400" lvl="6" indent="-528574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4724"/>
              <a:buChar char="•"/>
              <a:defRPr sz="4724"/>
            </a:lvl7pPr>
            <a:lvl8pPr marL="3657600" lvl="7" indent="-528574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4724"/>
              <a:buChar char="•"/>
              <a:defRPr sz="4724"/>
            </a:lvl8pPr>
            <a:lvl9pPr marL="4114800" lvl="8" indent="-528574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4724"/>
              <a:buChar char="•"/>
              <a:defRPr sz="4724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1487781" y="9719786"/>
            <a:ext cx="6966409" cy="1800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362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/>
            </a:lvl1pPr>
            <a:lvl2pPr marL="914400" lvl="1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3307"/>
              <a:buNone/>
              <a:defRPr sz="3307"/>
            </a:lvl2pPr>
            <a:lvl3pPr marL="1371600" lvl="2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sz="2835"/>
            </a:lvl3pPr>
            <a:lvl4pPr marL="1828800" lvl="3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2362"/>
              <a:buNone/>
              <a:defRPr sz="2362"/>
            </a:lvl4pPr>
            <a:lvl5pPr marL="2286000" lvl="4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2362"/>
              <a:buNone/>
              <a:defRPr sz="2362"/>
            </a:lvl5pPr>
            <a:lvl6pPr marL="2743200" lvl="5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2362"/>
              <a:buNone/>
              <a:defRPr sz="2362"/>
            </a:lvl6pPr>
            <a:lvl7pPr marL="3200400" lvl="6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2362"/>
              <a:buNone/>
              <a:defRPr sz="2362"/>
            </a:lvl7pPr>
            <a:lvl8pPr marL="3657600" lvl="7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2362"/>
              <a:buNone/>
              <a:defRPr sz="2362"/>
            </a:lvl8pPr>
            <a:lvl9pPr marL="4114800" lvl="8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2362"/>
              <a:buNone/>
              <a:defRPr sz="2362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59"/>
              <a:buFont typeface="Play"/>
              <a:buNone/>
              <a:defRPr sz="755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9182611" y="4664905"/>
            <a:ext cx="10934760" cy="23024494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487781" y="9719786"/>
            <a:ext cx="6966409" cy="1800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362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/>
            </a:lvl1pPr>
            <a:lvl2pPr marL="914400" lvl="1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3307"/>
              <a:buNone/>
              <a:defRPr sz="3307"/>
            </a:lvl2pPr>
            <a:lvl3pPr marL="1371600" lvl="2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sz="2835"/>
            </a:lvl3pPr>
            <a:lvl4pPr marL="1828800" lvl="3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2362"/>
              <a:buNone/>
              <a:defRPr sz="2362"/>
            </a:lvl4pPr>
            <a:lvl5pPr marL="2286000" lvl="4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2362"/>
              <a:buNone/>
              <a:defRPr sz="2362"/>
            </a:lvl5pPr>
            <a:lvl6pPr marL="2743200" lvl="5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2362"/>
              <a:buNone/>
              <a:defRPr sz="2362"/>
            </a:lvl6pPr>
            <a:lvl7pPr marL="3200400" lvl="6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2362"/>
              <a:buNone/>
              <a:defRPr sz="2362"/>
            </a:lvl7pPr>
            <a:lvl8pPr marL="3657600" lvl="7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2362"/>
              <a:buNone/>
              <a:defRPr sz="2362"/>
            </a:lvl8pPr>
            <a:lvl9pPr marL="4114800" lvl="8" indent="-2286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2362"/>
              <a:buNone/>
              <a:defRPr sz="2362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521238" y="9588541"/>
            <a:ext cx="20557051" cy="1862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3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057411" y="13124713"/>
            <a:ext cx="27456899" cy="4657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5392382" y="8602312"/>
            <a:ext cx="27456899" cy="13702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3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94"/>
              <a:buFont typeface="Play"/>
              <a:buNone/>
              <a:defRPr sz="10394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48589" algn="l" rtl="0">
              <a:lnSpc>
                <a:spcPct val="90000"/>
              </a:lnSpc>
              <a:spcBef>
                <a:spcPts val="2362"/>
              </a:spcBef>
              <a:spcAft>
                <a:spcPts val="0"/>
              </a:spcAft>
              <a:buClr>
                <a:schemeClr val="dk1"/>
              </a:buClr>
              <a:buSzPts val="6614"/>
              <a:buFont typeface="Arial"/>
              <a:buChar char="•"/>
              <a:defRPr sz="66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588582" algn="l" rtl="0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5669"/>
              <a:buFont typeface="Arial"/>
              <a:buChar char="•"/>
              <a:defRPr sz="566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528574" algn="l" rtl="0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4724"/>
              <a:buFont typeface="Arial"/>
              <a:buChar char="•"/>
              <a:defRPr sz="47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98602" algn="l" rtl="0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4252"/>
              <a:buFont typeface="Arial"/>
              <a:buChar char="•"/>
              <a:defRPr sz="42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98602" algn="l" rtl="0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4252"/>
              <a:buFont typeface="Arial"/>
              <a:buChar char="•"/>
              <a:defRPr sz="42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98602" algn="l" rtl="0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4252"/>
              <a:buFont typeface="Arial"/>
              <a:buChar char="•"/>
              <a:defRPr sz="42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98602" algn="l" rtl="0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4252"/>
              <a:buFont typeface="Arial"/>
              <a:buChar char="•"/>
              <a:defRPr sz="42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98602" algn="l" rtl="0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4252"/>
              <a:buFont typeface="Arial"/>
              <a:buChar char="•"/>
              <a:defRPr sz="42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98602" algn="l" rtl="0">
              <a:lnSpc>
                <a:spcPct val="90000"/>
              </a:lnSpc>
              <a:spcBef>
                <a:spcPts val="1181"/>
              </a:spcBef>
              <a:spcAft>
                <a:spcPts val="0"/>
              </a:spcAft>
              <a:buClr>
                <a:schemeClr val="dk1"/>
              </a:buClr>
              <a:buSzPts val="4252"/>
              <a:buFont typeface="Arial"/>
              <a:buChar char="•"/>
              <a:defRPr sz="42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3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3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83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283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283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283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283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283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283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283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283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781214" y="-1"/>
            <a:ext cx="23267141" cy="12165079"/>
            <a:chOff x="-781214" y="83251"/>
            <a:chExt cx="24614608" cy="15171418"/>
          </a:xfrm>
        </p:grpSpPr>
        <p:sp>
          <p:nvSpPr>
            <p:cNvPr id="85" name="Google Shape;85;p1"/>
            <p:cNvSpPr/>
            <p:nvPr/>
          </p:nvSpPr>
          <p:spPr>
            <a:xfrm>
              <a:off x="0" y="83251"/>
              <a:ext cx="22895658" cy="5951788"/>
            </a:xfrm>
            <a:prstGeom prst="rect">
              <a:avLst/>
            </a:prstGeom>
            <a:solidFill>
              <a:srgbClr val="C0E4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-781214" y="527968"/>
              <a:ext cx="15665100" cy="14726700"/>
            </a:xfrm>
            <a:prstGeom prst="ellipse">
              <a:avLst/>
            </a:prstGeom>
            <a:solidFill>
              <a:schemeClr val="lt1">
                <a:alpha val="34902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457200" y="4463015"/>
              <a:ext cx="15665116" cy="1151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 b="1" i="0" u="none" strike="noStrike" cap="none">
                  <a:solidFill>
                    <a:srgbClr val="747474"/>
                  </a:solidFill>
                  <a:latin typeface="Arial"/>
                  <a:ea typeface="Arial"/>
                  <a:cs typeface="Arial"/>
                  <a:sym typeface="Arial"/>
                </a:rPr>
                <a:t>프로그래밍 응용 2반 강은효</a:t>
              </a:r>
              <a:endParaRPr sz="5400" b="1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"/>
            <p:cNvSpPr txBox="1"/>
            <p:nvPr/>
          </p:nvSpPr>
          <p:spPr>
            <a:xfrm>
              <a:off x="457200" y="663029"/>
              <a:ext cx="23376194" cy="37999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6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상황에 따른 </a:t>
              </a:r>
              <a:endParaRPr sz="9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6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의상 추천 서비스 개발</a:t>
              </a:r>
              <a:endParaRPr/>
            </a:p>
          </p:txBody>
        </p:sp>
      </p:grpSp>
      <p:sp>
        <p:nvSpPr>
          <p:cNvPr id="89" name="Google Shape;89;p1"/>
          <p:cNvSpPr/>
          <p:nvPr/>
        </p:nvSpPr>
        <p:spPr>
          <a:xfrm>
            <a:off x="389406" y="5159037"/>
            <a:ext cx="10017335" cy="1154867"/>
          </a:xfrm>
          <a:prstGeom prst="homePlate">
            <a:avLst>
              <a:gd name="adj" fmla="val 50000"/>
            </a:avLst>
          </a:prstGeom>
          <a:solidFill>
            <a:srgbClr val="0F4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배경 (문제상황)</a:t>
            </a:r>
            <a:endParaRPr sz="4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389405" y="6651089"/>
            <a:ext cx="10017337" cy="210945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8283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600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날씨와 맞지 않는 옷을 입어 </a:t>
            </a:r>
            <a:endParaRPr sz="3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불편했던 일</a:t>
            </a:r>
            <a:endParaRPr sz="3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389404" y="9154200"/>
            <a:ext cx="10017337" cy="210945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8283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600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다양한 장소, 상황에 대한 지식이나</a:t>
            </a:r>
            <a:endParaRPr sz="3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경험이 부족해 고민했던 일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389404" y="11936455"/>
            <a:ext cx="10017337" cy="1138936"/>
          </a:xfrm>
          <a:prstGeom prst="homePlate">
            <a:avLst>
              <a:gd name="adj" fmla="val 50000"/>
            </a:avLst>
          </a:prstGeom>
          <a:solidFill>
            <a:srgbClr val="0F4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목적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389401" y="13279925"/>
            <a:ext cx="109434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① 또래 학생들이 의상 </a:t>
            </a:r>
            <a:r>
              <a:rPr lang="ko-KR" sz="36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선택시</a:t>
            </a:r>
            <a:r>
              <a:rPr lang="ko-KR" sz="3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겪는 불편 해소</a:t>
            </a:r>
            <a:endParaRPr sz="3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② 외출 준비 시 의상 선택에 드는 시간 단축</a:t>
            </a:r>
            <a:endParaRPr dirty="0"/>
          </a:p>
        </p:txBody>
      </p:sp>
      <p:grpSp>
        <p:nvGrpSpPr>
          <p:cNvPr id="94" name="Google Shape;94;p1"/>
          <p:cNvGrpSpPr/>
          <p:nvPr/>
        </p:nvGrpSpPr>
        <p:grpSpPr>
          <a:xfrm>
            <a:off x="389403" y="15333261"/>
            <a:ext cx="10017336" cy="9471576"/>
            <a:chOff x="389402" y="15333261"/>
            <a:chExt cx="9216190" cy="9471576"/>
          </a:xfrm>
        </p:grpSpPr>
        <p:sp>
          <p:nvSpPr>
            <p:cNvPr id="95" name="Google Shape;95;p1"/>
            <p:cNvSpPr/>
            <p:nvPr/>
          </p:nvSpPr>
          <p:spPr>
            <a:xfrm>
              <a:off x="389403" y="15333261"/>
              <a:ext cx="9216187" cy="1098394"/>
            </a:xfrm>
            <a:prstGeom prst="homePlate">
              <a:avLst>
                <a:gd name="adj" fmla="val 50000"/>
              </a:avLst>
            </a:prstGeom>
            <a:solidFill>
              <a:srgbClr val="0F47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4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개발 과정 - 7월 11일</a:t>
              </a:r>
              <a:endParaRPr/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389403" y="16766785"/>
              <a:ext cx="9216189" cy="158021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8283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ko-KR" sz="3600">
                  <a:solidFill>
                    <a:srgbClr val="747474"/>
                  </a:solidFill>
                  <a:latin typeface="Arial"/>
                  <a:ea typeface="Arial"/>
                  <a:cs typeface="Arial"/>
                  <a:sym typeface="Arial"/>
                </a:rPr>
                <a:t>이산수학 활용</a:t>
              </a:r>
              <a:endParaRPr sz="3600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600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날씨, 상황 데이터를 받아 함수 정의</a:t>
              </a:r>
              <a:endParaRPr sz="4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389403" y="18682125"/>
              <a:ext cx="9216189" cy="4207372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8283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ko-KR" sz="3600" dirty="0">
                  <a:solidFill>
                    <a:srgbClr val="747474"/>
                  </a:solidFill>
                  <a:latin typeface="Arial"/>
                  <a:ea typeface="Arial"/>
                  <a:cs typeface="Arial"/>
                  <a:sym typeface="Arial"/>
                </a:rPr>
                <a:t>연구내용</a:t>
              </a:r>
              <a:endParaRPr sz="3600" dirty="0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6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정의역을 </a:t>
              </a:r>
              <a:r>
                <a:rPr lang="ko-KR" sz="3600" b="1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입력받은</a:t>
              </a:r>
              <a:r>
                <a:rPr lang="ko-KR" sz="36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정보, 공역을 내 옷장</a:t>
              </a:r>
              <a:endParaRPr sz="3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6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의상으로 정하면 </a:t>
              </a:r>
              <a:r>
                <a:rPr lang="ko-KR" sz="3600" b="1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오류없이</a:t>
              </a:r>
              <a:r>
                <a:rPr lang="ko-KR" sz="36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의상을 추천하기 </a:t>
              </a:r>
              <a:endParaRPr sz="3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6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쉬울 것이라고 예상</a:t>
              </a:r>
              <a:endParaRPr sz="3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6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altLang="ko-KR" sz="36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Wingdings" panose="05000000000000000000" pitchFamily="2" charset="2"/>
                </a:rPr>
                <a:t> </a:t>
              </a:r>
              <a:r>
                <a:rPr lang="ko-KR" sz="36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이 함수의 관계가 일대일 대응이 아니라는</a:t>
              </a:r>
              <a:endParaRPr sz="3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6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사실 확인</a:t>
              </a:r>
              <a:endParaRPr sz="4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389402" y="23224627"/>
              <a:ext cx="9216189" cy="158021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8283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ko-KR" sz="3600">
                  <a:solidFill>
                    <a:srgbClr val="747474"/>
                  </a:solidFill>
                  <a:latin typeface="Arial"/>
                  <a:ea typeface="Arial"/>
                  <a:cs typeface="Arial"/>
                  <a:sym typeface="Arial"/>
                </a:rPr>
                <a:t>다음 연구 계획</a:t>
              </a:r>
              <a:endParaRPr sz="3600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600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어울리는 의상을 추천하는 방법 찾기</a:t>
              </a:r>
              <a:endParaRPr sz="4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p1"/>
          <p:cNvSpPr/>
          <p:nvPr/>
        </p:nvSpPr>
        <p:spPr>
          <a:xfrm>
            <a:off x="389402" y="25319709"/>
            <a:ext cx="10017333" cy="1088954"/>
          </a:xfrm>
          <a:prstGeom prst="homePlate">
            <a:avLst>
              <a:gd name="adj" fmla="val 50000"/>
            </a:avLst>
          </a:prstGeom>
          <a:solidFill>
            <a:srgbClr val="0F4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개발 과정 - 7월 18일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11187674" y="29317913"/>
            <a:ext cx="10017337" cy="2616486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8283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4000" b="1" dirty="0"/>
              <a:t> </a:t>
            </a:r>
            <a:r>
              <a:rPr lang="ko-KR" altLang="en-US" sz="4000" b="1" dirty="0"/>
              <a:t>의상 추천 서비스 구현 성공</a:t>
            </a:r>
            <a:r>
              <a:rPr lang="en-US" altLang="ko-KR" sz="4000" b="1" dirty="0"/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데이터가 브라우저에만 저장 </a:t>
            </a:r>
            <a:endParaRPr lang="en-US" altLang="ko-KR" sz="40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4000" b="1" dirty="0"/>
              <a:t> </a:t>
            </a:r>
            <a:r>
              <a:rPr lang="en-US" altLang="ko-KR" sz="4000" b="1" dirty="0">
                <a:sym typeface="Wingdings" panose="05000000000000000000" pitchFamily="2" charset="2"/>
              </a:rPr>
              <a:t></a:t>
            </a:r>
            <a:r>
              <a:rPr lang="en-US" altLang="ko-KR" sz="4000" b="1" dirty="0"/>
              <a:t> </a:t>
            </a:r>
            <a:r>
              <a:rPr lang="ko-KR" altLang="en-US" sz="4000" b="1" dirty="0"/>
              <a:t>백업</a:t>
            </a:r>
            <a:r>
              <a:rPr lang="en-US" altLang="ko-KR" sz="4000" b="1" dirty="0"/>
              <a:t>, </a:t>
            </a:r>
            <a:r>
              <a:rPr lang="ko-KR" altLang="en-US" sz="4000" b="1" dirty="0"/>
              <a:t>복구</a:t>
            </a:r>
            <a:r>
              <a:rPr lang="en-US" altLang="ko-KR" sz="4000" b="1" dirty="0"/>
              <a:t>, </a:t>
            </a:r>
            <a:r>
              <a:rPr lang="ko-KR" altLang="en-US" sz="4000" b="1" dirty="0"/>
              <a:t>동기화 불가</a:t>
            </a:r>
            <a:endParaRPr lang="en-US" altLang="ko-KR" sz="40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4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기온</a:t>
            </a:r>
            <a:r>
              <a:rPr lang="ko-KR" altLang="en-US" sz="4000" b="1" dirty="0"/>
              <a:t> 외에 습도</a:t>
            </a:r>
            <a:r>
              <a:rPr lang="en-US" altLang="ko-KR" sz="4000" b="1" dirty="0"/>
              <a:t>, </a:t>
            </a:r>
            <a:r>
              <a:rPr lang="ko-KR" altLang="en-US" sz="4000" b="1" dirty="0"/>
              <a:t>바람 등 세부 조건 부족 </a:t>
            </a:r>
            <a:endParaRPr sz="40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389401" y="29119686"/>
            <a:ext cx="10017333" cy="281471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8283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600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rPr>
              <a:t>연구내용</a:t>
            </a:r>
            <a:endParaRPr sz="3600">
              <a:solidFill>
                <a:srgbClr val="7474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정점을 의상, 간선을 의상 간 어울림 관계,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가중치를 조합 점수로 설정.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탐욕 알고리즘으로 한 의상을 고른 후 다음 </a:t>
            </a:r>
            <a:endParaRPr sz="3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의상을 선택하는 방식 계획</a:t>
            </a:r>
            <a:endParaRPr sz="4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11191318" y="5159037"/>
            <a:ext cx="10018800" cy="3173329"/>
          </a:xfrm>
          <a:prstGeom prst="roundRect">
            <a:avLst>
              <a:gd name="adj" fmla="val 16667"/>
            </a:avLst>
          </a:prstGeom>
          <a:solidFill>
            <a:srgbClr val="C0E4F5"/>
          </a:solidFill>
          <a:ln w="19050" cap="flat" cmpd="sng">
            <a:solidFill>
              <a:srgbClr val="08283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600">
                <a:solidFill>
                  <a:srgbClr val="8F5959"/>
                </a:solidFill>
                <a:latin typeface="Arial"/>
                <a:ea typeface="Arial"/>
                <a:cs typeface="Arial"/>
                <a:sym typeface="Arial"/>
              </a:rPr>
              <a:t>! 문제 발생 !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>
                <a:solidFill>
                  <a:srgbClr val="8F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탐욕 알고리즘을 사용하면 가장 먼저 선택된</a:t>
            </a:r>
            <a:endParaRPr sz="3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의상과 마지막으로 선택된 의상 사이의</a:t>
            </a:r>
            <a:endParaRPr sz="3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가중치가 고려되지 않는 문제 발생</a:t>
            </a:r>
            <a:endParaRPr sz="4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11189163" y="8719011"/>
            <a:ext cx="10020955" cy="158021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8283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600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rPr>
              <a:t>다음 연구 계획</a:t>
            </a:r>
            <a:endParaRPr sz="3600">
              <a:solidFill>
                <a:srgbClr val="7474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모든 의상을 묶어 평가하는 방법 찾기</a:t>
            </a:r>
            <a:endParaRPr sz="4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" name="Google Shape;104;p1"/>
          <p:cNvGrpSpPr/>
          <p:nvPr/>
        </p:nvGrpSpPr>
        <p:grpSpPr>
          <a:xfrm>
            <a:off x="11187693" y="10710064"/>
            <a:ext cx="10018803" cy="11409421"/>
            <a:chOff x="388050" y="15333261"/>
            <a:chExt cx="9217543" cy="11409421"/>
          </a:xfrm>
        </p:grpSpPr>
        <p:sp>
          <p:nvSpPr>
            <p:cNvPr id="105" name="Google Shape;105;p1"/>
            <p:cNvSpPr/>
            <p:nvPr/>
          </p:nvSpPr>
          <p:spPr>
            <a:xfrm>
              <a:off x="389404" y="15333261"/>
              <a:ext cx="9216189" cy="1098394"/>
            </a:xfrm>
            <a:prstGeom prst="homePlate">
              <a:avLst>
                <a:gd name="adj" fmla="val 50000"/>
              </a:avLst>
            </a:prstGeom>
            <a:solidFill>
              <a:srgbClr val="0F47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400" b="1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개발 과정 - 7월 27일 ~ 28일</a:t>
              </a:r>
              <a:endParaRPr dirty="0"/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389401" y="16769024"/>
              <a:ext cx="9216189" cy="1656908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8283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ko-KR" sz="3600">
                  <a:solidFill>
                    <a:srgbClr val="747474"/>
                  </a:solidFill>
                  <a:latin typeface="Arial"/>
                  <a:ea typeface="Arial"/>
                  <a:cs typeface="Arial"/>
                  <a:sym typeface="Arial"/>
                </a:rPr>
                <a:t>연구내용</a:t>
              </a:r>
              <a:endParaRPr sz="3600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600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바이브코딩을 통한 실제 웹사이트 구현</a:t>
              </a:r>
              <a:endParaRPr sz="4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388050" y="25162472"/>
              <a:ext cx="9216189" cy="158021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8283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ko-KR" sz="3600" dirty="0">
                  <a:solidFill>
                    <a:srgbClr val="747474"/>
                  </a:solidFill>
                  <a:latin typeface="Arial"/>
                  <a:ea typeface="Arial"/>
                  <a:cs typeface="Arial"/>
                  <a:sym typeface="Arial"/>
                </a:rPr>
                <a:t>다음 연구 계획</a:t>
              </a:r>
              <a:endParaRPr sz="3600" dirty="0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6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최종 문제점 보완 &amp; 웹사이트 배포</a:t>
              </a:r>
              <a:endParaRPr sz="4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" name="Google Shape;108;p1"/>
          <p:cNvSpPr/>
          <p:nvPr/>
        </p:nvSpPr>
        <p:spPr>
          <a:xfrm>
            <a:off x="11187693" y="14098574"/>
            <a:ext cx="10018800" cy="6144862"/>
          </a:xfrm>
          <a:prstGeom prst="roundRect">
            <a:avLst>
              <a:gd name="adj" fmla="val 16667"/>
            </a:avLst>
          </a:prstGeom>
          <a:solidFill>
            <a:srgbClr val="C0E4F5"/>
          </a:solidFill>
          <a:ln w="19050" cap="flat" cmpd="sng">
            <a:solidFill>
              <a:srgbClr val="08283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600" dirty="0">
                <a:solidFill>
                  <a:srgbClr val="8F5959"/>
                </a:solidFill>
                <a:latin typeface="Arial"/>
                <a:ea typeface="Arial"/>
                <a:cs typeface="Arial"/>
                <a:sym typeface="Arial"/>
              </a:rPr>
              <a:t>! 문제 발생 !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 dirty="0">
                <a:solidFill>
                  <a:srgbClr val="8F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의상 추천에 날씨 조건은 반영되지만 </a:t>
            </a:r>
            <a:endParaRPr sz="3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상황 조건이 반영되지 않음</a:t>
            </a:r>
            <a:endParaRPr sz="3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3600" b="1" dirty="0">
                <a:solidFill>
                  <a:schemeClr val="dk1"/>
                </a:solidFill>
                <a:sym typeface="Wingdings" panose="05000000000000000000" pitchFamily="2" charset="2"/>
              </a:rPr>
              <a:t> </a:t>
            </a:r>
            <a:r>
              <a:rPr lang="ko-KR" sz="3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의상 등록 시 격식, 두께 등의 선택지 추가</a:t>
            </a:r>
            <a:endParaRPr sz="3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의상 간의 어울림 정도를 가중치 그래프로 평가</a:t>
            </a:r>
            <a:endParaRPr sz="3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하려는 계획이 반영되지 않음</a:t>
            </a:r>
            <a:endParaRPr sz="3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3600" b="1" dirty="0">
                <a:solidFill>
                  <a:schemeClr val="dk1"/>
                </a:solidFill>
              </a:rPr>
              <a:t> </a:t>
            </a:r>
            <a:r>
              <a:rPr lang="en-US" altLang="ko-KR" sz="3600" b="1" dirty="0">
                <a:solidFill>
                  <a:schemeClr val="dk1"/>
                </a:solidFill>
                <a:sym typeface="Wingdings" panose="05000000000000000000" pitchFamily="2" charset="2"/>
              </a:rPr>
              <a:t></a:t>
            </a:r>
            <a:r>
              <a:rPr lang="ko-KR" sz="3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가중치 그래프를 이용해 어울리는 옷을</a:t>
            </a:r>
            <a:endParaRPr sz="3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찾아야 함을 언급하여 수정</a:t>
            </a:r>
            <a:endParaRPr sz="3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C28AB70-4F59-4E78-9156-1DCE33675525}"/>
              </a:ext>
            </a:extLst>
          </p:cNvPr>
          <p:cNvGrpSpPr/>
          <p:nvPr/>
        </p:nvGrpSpPr>
        <p:grpSpPr>
          <a:xfrm>
            <a:off x="11187681" y="23997345"/>
            <a:ext cx="10017331" cy="3599181"/>
            <a:chOff x="11187693" y="22573172"/>
            <a:chExt cx="10017331" cy="359918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379A75E-9AC1-4A79-A1D1-7BB816665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87693" y="22573172"/>
              <a:ext cx="5328657" cy="3599181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B3169FB-138B-4275-B1DA-FDD87E10E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736655" y="22573172"/>
              <a:ext cx="5468369" cy="3599181"/>
            </a:xfrm>
            <a:prstGeom prst="rect">
              <a:avLst/>
            </a:prstGeo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3" name="Google Shape;92;p1">
            <a:extLst>
              <a:ext uri="{FF2B5EF4-FFF2-40B4-BE49-F238E27FC236}">
                <a16:creationId xmlns:a16="http://schemas.microsoft.com/office/drawing/2014/main" id="{F400E731-ECFD-4D6E-A7C5-C3B12756F677}"/>
              </a:ext>
            </a:extLst>
          </p:cNvPr>
          <p:cNvSpPr/>
          <p:nvPr/>
        </p:nvSpPr>
        <p:spPr>
          <a:xfrm>
            <a:off x="11187681" y="22503640"/>
            <a:ext cx="10017337" cy="1138936"/>
          </a:xfrm>
          <a:prstGeom prst="homePlate">
            <a:avLst>
              <a:gd name="adj" fmla="val 50000"/>
            </a:avLst>
          </a:prstGeom>
          <a:solidFill>
            <a:srgbClr val="0F4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400" b="1" dirty="0">
                <a:solidFill>
                  <a:schemeClr val="lt1"/>
                </a:solidFill>
              </a:rPr>
              <a:t> 실제 웹사이트 스크린샷</a:t>
            </a:r>
            <a:endParaRPr dirty="0"/>
          </a:p>
        </p:txBody>
      </p:sp>
      <p:sp>
        <p:nvSpPr>
          <p:cNvPr id="35" name="Google Shape;92;p1">
            <a:extLst>
              <a:ext uri="{FF2B5EF4-FFF2-40B4-BE49-F238E27FC236}">
                <a16:creationId xmlns:a16="http://schemas.microsoft.com/office/drawing/2014/main" id="{20AFDE5E-7BD4-4810-97D2-AD21D74E1870}"/>
              </a:ext>
            </a:extLst>
          </p:cNvPr>
          <p:cNvSpPr/>
          <p:nvPr/>
        </p:nvSpPr>
        <p:spPr>
          <a:xfrm>
            <a:off x="11187675" y="27980750"/>
            <a:ext cx="10017337" cy="1138936"/>
          </a:xfrm>
          <a:prstGeom prst="homePlate">
            <a:avLst>
              <a:gd name="adj" fmla="val 50000"/>
            </a:avLst>
          </a:prstGeom>
          <a:solidFill>
            <a:srgbClr val="0F4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lt1"/>
                </a:solidFill>
              </a:rPr>
              <a:t> </a:t>
            </a:r>
            <a:r>
              <a:rPr lang="ko-KR" altLang="en-US" sz="4400" b="1" dirty="0">
                <a:solidFill>
                  <a:schemeClr val="lt1"/>
                </a:solidFill>
              </a:rPr>
              <a:t>성과 및 의의</a:t>
            </a:r>
            <a:r>
              <a:rPr lang="en-US" altLang="ko-KR" sz="4400" b="1" dirty="0">
                <a:solidFill>
                  <a:schemeClr val="lt1"/>
                </a:solidFill>
              </a:rPr>
              <a:t>, </a:t>
            </a:r>
            <a:r>
              <a:rPr lang="ko-KR" altLang="en-US" sz="4400" b="1" dirty="0">
                <a:solidFill>
                  <a:schemeClr val="lt1"/>
                </a:solidFill>
              </a:rPr>
              <a:t>한계점</a:t>
            </a:r>
            <a:endParaRPr dirty="0"/>
          </a:p>
        </p:txBody>
      </p:sp>
      <p:sp>
        <p:nvSpPr>
          <p:cNvPr id="37" name="Google Shape;100;p1">
            <a:extLst>
              <a:ext uri="{FF2B5EF4-FFF2-40B4-BE49-F238E27FC236}">
                <a16:creationId xmlns:a16="http://schemas.microsoft.com/office/drawing/2014/main" id="{37413243-A660-44A4-8B84-9D08D076599C}"/>
              </a:ext>
            </a:extLst>
          </p:cNvPr>
          <p:cNvSpPr/>
          <p:nvPr/>
        </p:nvSpPr>
        <p:spPr>
          <a:xfrm>
            <a:off x="389401" y="26738382"/>
            <a:ext cx="10017333" cy="203132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8283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600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rPr>
              <a:t>이산수학 활용</a:t>
            </a:r>
            <a:endParaRPr sz="3600">
              <a:solidFill>
                <a:srgbClr val="7474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의상 간의 어울림 지수 가중치 그래프로 나타내고, 탐욕 알고리즘으로 코디 조합</a:t>
            </a:r>
            <a:endParaRPr sz="4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100;p1">
            <a:extLst>
              <a:ext uri="{FF2B5EF4-FFF2-40B4-BE49-F238E27FC236}">
                <a16:creationId xmlns:a16="http://schemas.microsoft.com/office/drawing/2014/main" id="{5B373E37-3C67-483B-930F-1571AECFFFB5}"/>
              </a:ext>
            </a:extLst>
          </p:cNvPr>
          <p:cNvSpPr/>
          <p:nvPr/>
        </p:nvSpPr>
        <p:spPr>
          <a:xfrm>
            <a:off x="11187673" y="26905632"/>
            <a:ext cx="10017337" cy="87689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 cap="flat" cmpd="sng">
            <a:solidFill>
              <a:srgbClr val="08283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4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입력에 맞는 의상 추천 서비스</a:t>
            </a:r>
            <a:endParaRPr sz="40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336</Words>
  <Application>Microsoft Office PowerPoint</Application>
  <PresentationFormat>사용자 지정</PresentationFormat>
  <Paragraphs>59</Paragraphs>
  <Slides>1</Slides>
  <Notes>1</Notes>
  <HiddenSlides>1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Play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Sun Park</dc:creator>
  <cp:lastModifiedBy>USER</cp:lastModifiedBy>
  <cp:revision>4</cp:revision>
  <dcterms:created xsi:type="dcterms:W3CDTF">2026-07-28T13:33:38Z</dcterms:created>
  <dcterms:modified xsi:type="dcterms:W3CDTF">2026-07-28T23:43:53Z</dcterms:modified>
</cp:coreProperties>
</file>